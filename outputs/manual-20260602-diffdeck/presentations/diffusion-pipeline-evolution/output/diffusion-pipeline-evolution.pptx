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ackground">
            <a:extLst>
              <a:ext uri="{FF2B5EF4-FFF2-40B4-BE49-F238E27FC236}">
                <a16:creationId xmlns:a16="http://schemas.microsoft.com/office/drawing/2014/main" id="{1A32E96C-A9E2-4C8A-B7F9-A23B888EE8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left-accent">
            <a:extLst>
              <a:ext uri="{FF2B5EF4-FFF2-40B4-BE49-F238E27FC236}">
                <a16:creationId xmlns:a16="http://schemas.microsoft.com/office/drawing/2014/main" id="{6A859820-6D49-4041-A47D-54451E14E2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CB50ACBD-BC49-473B-9F64-D9C531FBD279}"/>
              </a:ext>
            </a:extLst>
          </p:cNvPr>
          <p:cNvSpPr>
            <a:spLocks noGrp="1"/>
          </p:cNvSpPr>
          <p:nvPr/>
        </p:nvSpPr>
        <p:spPr>
          <a:xfrm>
            <a:off x="438150" y="6419850"/>
            <a:ext cx="113157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source">
            <a:extLst>
              <a:ext uri="{FF2B5EF4-FFF2-40B4-BE49-F238E27FC236}">
                <a16:creationId xmlns:a16="http://schemas.microsoft.com/office/drawing/2014/main" id="{DC730846-CBB3-43F9-A82C-5D0431A4DD33}"/>
              </a:ext>
            </a:extLst>
          </p:cNvPr>
          <p:cNvSpPr>
            <a:spLocks noGrp="1"/>
          </p:cNvSpPr>
          <p:nvPr/>
        </p:nvSpPr>
        <p:spPr>
          <a:xfrm>
            <a:off x="457200" y="6553200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FTW / NICFI PRETRAINING</a:t>
            </a:r>
          </a:p>
        </p:txBody>
      </p:sp>
      <p:sp>
        <p:nvSpPr>
          <p:cNvPr id="5" name="footer-page">
            <a:extLst>
              <a:ext uri="{FF2B5EF4-FFF2-40B4-BE49-F238E27FC236}">
                <a16:creationId xmlns:a16="http://schemas.microsoft.com/office/drawing/2014/main" id="{D54F8185-04D4-4903-8118-3149A084AA47}"/>
              </a:ext>
            </a:extLst>
          </p:cNvPr>
          <p:cNvSpPr>
            <a:spLocks noGrp="1"/>
          </p:cNvSpPr>
          <p:nvPr/>
        </p:nvSpPr>
        <p:spPr>
          <a:xfrm>
            <a:off x="9906000" y="655320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OVERVIEW  |  01</a:t>
            </a:r>
          </a:p>
        </p:txBody>
      </p:sp>
      <p:sp>
        <p:nvSpPr>
          <p:cNvPr id="6" name="kicker-01-marker">
            <a:extLst>
              <a:ext uri="{FF2B5EF4-FFF2-40B4-BE49-F238E27FC236}">
                <a16:creationId xmlns:a16="http://schemas.microsoft.com/office/drawing/2014/main" id="{1391780D-8F6C-49F2-8663-729804FE0788}"/>
              </a:ext>
            </a:extLst>
          </p:cNvPr>
          <p:cNvSpPr>
            <a:spLocks noGrp="1"/>
          </p:cNvSpPr>
          <p:nvPr/>
        </p:nvSpPr>
        <p:spPr>
          <a:xfrm>
            <a:off x="514350" y="466725"/>
            <a:ext cx="95250" cy="95250"/>
          </a:xfrm>
          <a:prstGeom prst="ellipse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icker-01-label">
            <a:extLst>
              <a:ext uri="{FF2B5EF4-FFF2-40B4-BE49-F238E27FC236}">
                <a16:creationId xmlns:a16="http://schemas.microsoft.com/office/drawing/2014/main" id="{5A8C4AA5-FB94-4B05-A029-6CE6FCE75E08}"/>
              </a:ext>
            </a:extLst>
          </p:cNvPr>
          <p:cNvSpPr>
            <a:spLocks noGrp="1"/>
          </p:cNvSpPr>
          <p:nvPr/>
        </p:nvSpPr>
        <p:spPr>
          <a:xfrm>
            <a:off x="704850" y="4191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PIPELINE EVOLUTION</a:t>
            </a:r>
          </a:p>
        </p:txBody>
      </p:sp>
      <p:sp>
        <p:nvSpPr>
          <p:cNvPr id="8" name="claim-title">
            <a:extLst>
              <a:ext uri="{FF2B5EF4-FFF2-40B4-BE49-F238E27FC236}">
                <a16:creationId xmlns:a16="http://schemas.microsoft.com/office/drawing/2014/main" id="{E4316880-9672-4020-ACBD-A0FE3FCFF67F}"/>
              </a:ext>
            </a:extLst>
          </p:cNvPr>
          <p:cNvSpPr>
            <a:spLocks noGrp="1"/>
          </p:cNvSpPr>
          <p:nvPr/>
        </p:nvSpPr>
        <p:spPr>
          <a:xfrm>
            <a:off x="533400" y="1028700"/>
            <a:ext cx="7524750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From a valid diffusion baseline</a:t>
            </a:r>
          </a:p>
          <a:p>
            <a:pPr algn="l">
              <a:defRPr sz="37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to a transfer-ready</a:t>
            </a:r>
          </a:p>
          <a:p>
            <a:pPr algn="l">
              <a:defRPr sz="37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pretraining system</a:t>
            </a:r>
          </a:p>
        </p:txBody>
      </p:sp>
      <p:sp>
        <p:nvSpPr>
          <p:cNvPr id="9" name="support-note">
            <a:extLst>
              <a:ext uri="{FF2B5EF4-FFF2-40B4-BE49-F238E27FC236}">
                <a16:creationId xmlns:a16="http://schemas.microsoft.com/office/drawing/2014/main" id="{7340A6F3-9814-445D-BEBE-DEA3FD6CBDE3}"/>
              </a:ext>
            </a:extLst>
          </p:cNvPr>
          <p:cNvSpPr>
            <a:spLocks noGrp="1"/>
          </p:cNvSpPr>
          <p:nvPr/>
        </p:nvSpPr>
        <p:spPr>
          <a:xfrm>
            <a:off x="571500" y="3238500"/>
            <a:ext cx="68961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The EfficientNet-B7 backbone stays intact. The advances sit around it: stronger conditioning, a better denoising objective, EMA transfer, and an AWS-ready training path.</a:t>
            </a:r>
          </a:p>
        </p:txBody>
      </p:sp>
      <p:sp>
        <p:nvSpPr>
          <p:cNvPr id="10" name="motif-base">
            <a:extLst>
              <a:ext uri="{FF2B5EF4-FFF2-40B4-BE49-F238E27FC236}">
                <a16:creationId xmlns:a16="http://schemas.microsoft.com/office/drawing/2014/main" id="{1512F424-2E37-4A0A-9752-6F5F2437AD9F}"/>
              </a:ext>
            </a:extLst>
          </p:cNvPr>
          <p:cNvSpPr>
            <a:spLocks noGrp="1"/>
          </p:cNvSpPr>
          <p:nvPr/>
        </p:nvSpPr>
        <p:spPr>
          <a:xfrm>
            <a:off x="8096250" y="1066800"/>
            <a:ext cx="2762250" cy="207645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motif-mid">
            <a:extLst>
              <a:ext uri="{FF2B5EF4-FFF2-40B4-BE49-F238E27FC236}">
                <a16:creationId xmlns:a16="http://schemas.microsoft.com/office/drawing/2014/main" id="{B36DFEBF-3C6D-43C4-82B2-1896220DE572}"/>
              </a:ext>
            </a:extLst>
          </p:cNvPr>
          <p:cNvSpPr>
            <a:spLocks noGrp="1"/>
          </p:cNvSpPr>
          <p:nvPr/>
        </p:nvSpPr>
        <p:spPr>
          <a:xfrm>
            <a:off x="8439150" y="1390650"/>
            <a:ext cx="2762250" cy="2076450"/>
          </a:xfrm>
          <a:prstGeom prst="rect">
            <a:avLst/>
          </a:prstGeom>
          <a:solidFill>
            <a:srgbClr val="20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motif-front">
            <a:extLst>
              <a:ext uri="{FF2B5EF4-FFF2-40B4-BE49-F238E27FC236}">
                <a16:creationId xmlns:a16="http://schemas.microsoft.com/office/drawing/2014/main" id="{EB64F7BF-188E-4AC4-9F95-210134D34EA2}"/>
              </a:ext>
            </a:extLst>
          </p:cNvPr>
          <p:cNvSpPr>
            <a:spLocks noGrp="1"/>
          </p:cNvSpPr>
          <p:nvPr/>
        </p:nvSpPr>
        <p:spPr>
          <a:xfrm>
            <a:off x="8782050" y="1714500"/>
            <a:ext cx="2762250" cy="2076450"/>
          </a:xfrm>
          <a:prstGeom prst="rect">
            <a:avLst/>
          </a:prstGeom>
          <a:solidFill>
            <a:srgbClr val="70B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motif-front-inner">
            <a:extLst>
              <a:ext uri="{FF2B5EF4-FFF2-40B4-BE49-F238E27FC236}">
                <a16:creationId xmlns:a16="http://schemas.microsoft.com/office/drawing/2014/main" id="{6885135A-28A2-43D8-93AF-E7040B582564}"/>
              </a:ext>
            </a:extLst>
          </p:cNvPr>
          <p:cNvSpPr>
            <a:spLocks noGrp="1"/>
          </p:cNvSpPr>
          <p:nvPr/>
        </p:nvSpPr>
        <p:spPr>
          <a:xfrm>
            <a:off x="8934450" y="1866900"/>
            <a:ext cx="2457450" cy="1771650"/>
          </a:xfrm>
          <a:prstGeom prst="rect">
            <a:avLst/>
          </a:prstGeom>
          <a:solidFill>
            <a:srgbClr val="121C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eature-band-0">
            <a:extLst>
              <a:ext uri="{FF2B5EF4-FFF2-40B4-BE49-F238E27FC236}">
                <a16:creationId xmlns:a16="http://schemas.microsoft.com/office/drawing/2014/main" id="{4E4B12D4-36FB-4C62-92F4-A6B22F2F9EDF}"/>
              </a:ext>
            </a:extLst>
          </p:cNvPr>
          <p:cNvSpPr>
            <a:spLocks noGrp="1"/>
          </p:cNvSpPr>
          <p:nvPr/>
        </p:nvSpPr>
        <p:spPr>
          <a:xfrm>
            <a:off x="9105900" y="2095500"/>
            <a:ext cx="2095500" cy="95250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feature-band-1">
            <a:extLst>
              <a:ext uri="{FF2B5EF4-FFF2-40B4-BE49-F238E27FC236}">
                <a16:creationId xmlns:a16="http://schemas.microsoft.com/office/drawing/2014/main" id="{F6CF9F0B-0948-4430-B499-C5EA37E91AE7}"/>
              </a:ext>
            </a:extLst>
          </p:cNvPr>
          <p:cNvSpPr>
            <a:spLocks noGrp="1"/>
          </p:cNvSpPr>
          <p:nvPr/>
        </p:nvSpPr>
        <p:spPr>
          <a:xfrm>
            <a:off x="9105900" y="2400300"/>
            <a:ext cx="1885950" cy="95250"/>
          </a:xfrm>
          <a:prstGeom prst="rect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eature-band-2">
            <a:extLst>
              <a:ext uri="{FF2B5EF4-FFF2-40B4-BE49-F238E27FC236}">
                <a16:creationId xmlns:a16="http://schemas.microsoft.com/office/drawing/2014/main" id="{D29826C1-3CDF-452C-A50A-45E85436F003}"/>
              </a:ext>
            </a:extLst>
          </p:cNvPr>
          <p:cNvSpPr>
            <a:spLocks noGrp="1"/>
          </p:cNvSpPr>
          <p:nvPr/>
        </p:nvSpPr>
        <p:spPr>
          <a:xfrm>
            <a:off x="9105900" y="2705100"/>
            <a:ext cx="1676400" cy="95250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eature-band-3">
            <a:extLst>
              <a:ext uri="{FF2B5EF4-FFF2-40B4-BE49-F238E27FC236}">
                <a16:creationId xmlns:a16="http://schemas.microsoft.com/office/drawing/2014/main" id="{99C0598C-21AD-41C6-8EE5-3B2ADEBDCA9A}"/>
              </a:ext>
            </a:extLst>
          </p:cNvPr>
          <p:cNvSpPr>
            <a:spLocks noGrp="1"/>
          </p:cNvSpPr>
          <p:nvPr/>
        </p:nvSpPr>
        <p:spPr>
          <a:xfrm>
            <a:off x="9105900" y="3009900"/>
            <a:ext cx="1466850" cy="95250"/>
          </a:xfrm>
          <a:prstGeom prst="rect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37D9F-53E6-40CF-BCBF-577865AF12F0}"/>
              </a:ext>
            </a:extLst>
          </p:cNvPr>
          <p:cNvSpPr>
            <a:spLocks noGrp="1"/>
          </p:cNvSpPr>
          <p:nvPr/>
        </p:nvSpPr>
        <p:spPr>
          <a:xfrm>
            <a:off x="9124950" y="320040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MULTISCALE FEATURE MAPS</a:t>
            </a:r>
          </a:p>
        </p:txBody>
      </p:sp>
      <p:sp>
        <p:nvSpPr>
          <p:cNvPr id="19" name="time-token">
            <a:extLst>
              <a:ext uri="{FF2B5EF4-FFF2-40B4-BE49-F238E27FC236}">
                <a16:creationId xmlns:a16="http://schemas.microsoft.com/office/drawing/2014/main" id="{C0B339E0-56F6-49CC-B357-EB8F0DC1A33E}"/>
              </a:ext>
            </a:extLst>
          </p:cNvPr>
          <p:cNvSpPr>
            <a:spLocks noGrp="1"/>
          </p:cNvSpPr>
          <p:nvPr/>
        </p:nvSpPr>
        <p:spPr>
          <a:xfrm>
            <a:off x="10306050" y="1200150"/>
            <a:ext cx="514350" cy="514350"/>
          </a:xfrm>
          <a:prstGeom prst="rect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70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20" name="metric-rule">
            <a:extLst>
              <a:ext uri="{FF2B5EF4-FFF2-40B4-BE49-F238E27FC236}">
                <a16:creationId xmlns:a16="http://schemas.microsoft.com/office/drawing/2014/main" id="{D7001309-B25C-41D7-AACD-D255393C7101}"/>
              </a:ext>
            </a:extLst>
          </p:cNvPr>
          <p:cNvSpPr>
            <a:spLocks noGrp="1"/>
          </p:cNvSpPr>
          <p:nvPr/>
        </p:nvSpPr>
        <p:spPr>
          <a:xfrm>
            <a:off x="514350" y="4419600"/>
            <a:ext cx="110109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115B1-B1E4-4129-9C53-31BA7E1ABB2C}"/>
              </a:ext>
            </a:extLst>
          </p:cNvPr>
          <p:cNvSpPr>
            <a:spLocks noGrp="1"/>
          </p:cNvSpPr>
          <p:nvPr/>
        </p:nvSpPr>
        <p:spPr>
          <a:xfrm>
            <a:off x="590550" y="4705350"/>
            <a:ext cx="2047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0B7D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70B7D6"/>
                </a:solidFill>
                <a:latin typeface="Aptos Display"/>
                <a:ea typeface="Aptos Display"/>
                <a:cs typeface="Aptos Display"/>
              </a:rPr>
              <a:t>224 x 224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DE36C6-63B7-414F-9361-59E429713AB2}"/>
              </a:ext>
            </a:extLst>
          </p:cNvPr>
          <p:cNvSpPr>
            <a:spLocks noGrp="1"/>
          </p:cNvSpPr>
          <p:nvPr/>
        </p:nvSpPr>
        <p:spPr>
          <a:xfrm>
            <a:off x="590550" y="5153025"/>
            <a:ext cx="204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rPr>
              <a:t>NICFI CHIP SIZE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9E4917-6E9F-4ECD-94A7-EF3962F1183A}"/>
              </a:ext>
            </a:extLst>
          </p:cNvPr>
          <p:cNvSpPr>
            <a:spLocks noGrp="1"/>
          </p:cNvSpPr>
          <p:nvPr/>
        </p:nvSpPr>
        <p:spPr>
          <a:xfrm>
            <a:off x="590550" y="5372100"/>
            <a:ext cx="2047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Four-channel satellite imagery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3432D4-89CD-4ACC-80F0-8FE2C7F8E736}"/>
              </a:ext>
            </a:extLst>
          </p:cNvPr>
          <p:cNvSpPr>
            <a:spLocks noGrp="1"/>
          </p:cNvSpPr>
          <p:nvPr/>
        </p:nvSpPr>
        <p:spPr>
          <a:xfrm>
            <a:off x="3295650" y="4705350"/>
            <a:ext cx="1809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83C69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83C69B"/>
                </a:solidFill>
                <a:latin typeface="Aptos Display"/>
                <a:ea typeface="Aptos Display"/>
                <a:cs typeface="Aptos Display"/>
              </a:rPr>
              <a:t>~30M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312709-678E-41A6-B169-91040CAA0FE6}"/>
              </a:ext>
            </a:extLst>
          </p:cNvPr>
          <p:cNvSpPr>
            <a:spLocks noGrp="1"/>
          </p:cNvSpPr>
          <p:nvPr/>
        </p:nvSpPr>
        <p:spPr>
          <a:xfrm>
            <a:off x="3295650" y="515302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rPr>
              <a:t>PRETRAINING CHIPS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F92952-5B14-452F-9C00-AB4DA94FB612}"/>
              </a:ext>
            </a:extLst>
          </p:cNvPr>
          <p:cNvSpPr>
            <a:spLocks noGrp="1"/>
          </p:cNvSpPr>
          <p:nvPr/>
        </p:nvSpPr>
        <p:spPr>
          <a:xfrm>
            <a:off x="3295650" y="537210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Self-supervised scale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59488C-D6AF-4D45-8BB6-8CD9BEBCB499}"/>
              </a:ext>
            </a:extLst>
          </p:cNvPr>
          <p:cNvSpPr>
            <a:spLocks noGrp="1"/>
          </p:cNvSpPr>
          <p:nvPr/>
        </p:nvSpPr>
        <p:spPr>
          <a:xfrm>
            <a:off x="5829300" y="47053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E4B76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4B76A"/>
                </a:solidFill>
                <a:latin typeface="Aptos Display"/>
                <a:ea typeface="Aptos Display"/>
                <a:cs typeface="Aptos Display"/>
              </a:rPr>
              <a:t>B7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48DA72-3DC9-4255-BB4F-4C58634D8898}"/>
              </a:ext>
            </a:extLst>
          </p:cNvPr>
          <p:cNvSpPr>
            <a:spLocks noGrp="1"/>
          </p:cNvSpPr>
          <p:nvPr/>
        </p:nvSpPr>
        <p:spPr>
          <a:xfrm>
            <a:off x="5829300" y="5153025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rPr>
              <a:t>ENCODER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7F601D-829B-4C89-8CCC-09A92AE7EB6A}"/>
              </a:ext>
            </a:extLst>
          </p:cNvPr>
          <p:cNvSpPr>
            <a:spLocks noGrp="1"/>
          </p:cNvSpPr>
          <p:nvPr/>
        </p:nvSpPr>
        <p:spPr>
          <a:xfrm>
            <a:off x="5829300" y="53721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EfficientNet kept unchanged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1F4CDA-2FDB-43A8-9BD2-AE6F48CDCF5D}"/>
              </a:ext>
            </a:extLst>
          </p:cNvPr>
          <p:cNvSpPr>
            <a:spLocks noGrp="1"/>
          </p:cNvSpPr>
          <p:nvPr/>
        </p:nvSpPr>
        <p:spPr>
          <a:xfrm>
            <a:off x="8534400" y="4705350"/>
            <a:ext cx="209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D982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98278"/>
                </a:solidFill>
                <a:latin typeface="Aptos Display"/>
                <a:ea typeface="Aptos Display"/>
                <a:cs typeface="Aptos Display"/>
              </a:rPr>
              <a:t>8 GPU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FB635A-19F8-49D6-8F51-D17FD9C99282}"/>
              </a:ext>
            </a:extLst>
          </p:cNvPr>
          <p:cNvSpPr>
            <a:spLocks noGrp="1"/>
          </p:cNvSpPr>
          <p:nvPr/>
        </p:nvSpPr>
        <p:spPr>
          <a:xfrm>
            <a:off x="8534400" y="51530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rPr>
              <a:t>AWS TARGET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C6D259-DE04-4CAB-934D-9D42758BE7E9}"/>
              </a:ext>
            </a:extLst>
          </p:cNvPr>
          <p:cNvSpPr>
            <a:spLocks noGrp="1"/>
          </p:cNvSpPr>
          <p:nvPr/>
        </p:nvSpPr>
        <p:spPr>
          <a:xfrm>
            <a:off x="8534400" y="53721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p3 training configuration</a:t>
            </a:r>
          </a:p>
        </p:txBody>
      </p:sp>
    </p:spTree>
    <p:extLst>
      <p:ext uri="{BB962C8B-B14F-4D97-AF65-F5344CB8AC3E}">
        <p14:creationId xmlns:p14="http://schemas.microsoft.com/office/powerpoint/2010/main" val="74732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ackground">
            <a:extLst>
              <a:ext uri="{FF2B5EF4-FFF2-40B4-BE49-F238E27FC236}">
                <a16:creationId xmlns:a16="http://schemas.microsoft.com/office/drawing/2014/main" id="{30A37FCD-9265-4E59-AB40-3EC949E977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left-accent">
            <a:extLst>
              <a:ext uri="{FF2B5EF4-FFF2-40B4-BE49-F238E27FC236}">
                <a16:creationId xmlns:a16="http://schemas.microsoft.com/office/drawing/2014/main" id="{95645A40-C413-4D6C-A9CA-B0F1B9FDE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1E46DCE5-281C-46AF-9991-F0B955065B82}"/>
              </a:ext>
            </a:extLst>
          </p:cNvPr>
          <p:cNvSpPr>
            <a:spLocks noGrp="1"/>
          </p:cNvSpPr>
          <p:nvPr/>
        </p:nvSpPr>
        <p:spPr>
          <a:xfrm>
            <a:off x="438150" y="6419850"/>
            <a:ext cx="113157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source">
            <a:extLst>
              <a:ext uri="{FF2B5EF4-FFF2-40B4-BE49-F238E27FC236}">
                <a16:creationId xmlns:a16="http://schemas.microsoft.com/office/drawing/2014/main" id="{0B6B6A7B-6555-4D0C-8B66-D488DB6F549F}"/>
              </a:ext>
            </a:extLst>
          </p:cNvPr>
          <p:cNvSpPr>
            <a:spLocks noGrp="1"/>
          </p:cNvSpPr>
          <p:nvPr/>
        </p:nvSpPr>
        <p:spPr>
          <a:xfrm>
            <a:off x="457200" y="6553200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FTW / NICFI PRETRAINING</a:t>
            </a:r>
          </a:p>
        </p:txBody>
      </p:sp>
      <p:sp>
        <p:nvSpPr>
          <p:cNvPr id="5" name="footer-page">
            <a:extLst>
              <a:ext uri="{FF2B5EF4-FFF2-40B4-BE49-F238E27FC236}">
                <a16:creationId xmlns:a16="http://schemas.microsoft.com/office/drawing/2014/main" id="{9937CCBF-C4A2-4C46-8AB9-3548F12CC9AF}"/>
              </a:ext>
            </a:extLst>
          </p:cNvPr>
          <p:cNvSpPr>
            <a:spLocks noGrp="1"/>
          </p:cNvSpPr>
          <p:nvPr/>
        </p:nvSpPr>
        <p:spPr>
          <a:xfrm>
            <a:off x="9906000" y="655320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BEFORE  |  02</a:t>
            </a:r>
          </a:p>
        </p:txBody>
      </p:sp>
      <p:sp>
        <p:nvSpPr>
          <p:cNvPr id="6" name="kicker-02-marker">
            <a:extLst>
              <a:ext uri="{FF2B5EF4-FFF2-40B4-BE49-F238E27FC236}">
                <a16:creationId xmlns:a16="http://schemas.microsoft.com/office/drawing/2014/main" id="{0CAC168F-3804-4C62-A7F9-8A66837AD67C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95250" cy="9525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icker-02-label">
            <a:extLst>
              <a:ext uri="{FF2B5EF4-FFF2-40B4-BE49-F238E27FC236}">
                <a16:creationId xmlns:a16="http://schemas.microsoft.com/office/drawing/2014/main" id="{743B79D5-5D1E-40E6-ADF4-2A98E548510F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27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8278"/>
                </a:solidFill>
                <a:latin typeface="Aptos Mono"/>
                <a:ea typeface="Aptos Mono"/>
                <a:cs typeface="Aptos Mono"/>
              </a:rPr>
              <a:t>ORIGINAL MODEL</a:t>
            </a:r>
          </a:p>
        </p:txBody>
      </p:sp>
      <p:sp>
        <p:nvSpPr>
          <p:cNvPr id="8" name="claim-title">
            <a:extLst>
              <a:ext uri="{FF2B5EF4-FFF2-40B4-BE49-F238E27FC236}">
                <a16:creationId xmlns:a16="http://schemas.microsoft.com/office/drawing/2014/main" id="{789BF474-80CE-4ACE-BCA8-004A3AF23FAE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The first version was a workable baseline,</a:t>
            </a:r>
          </a:p>
          <a:p>
            <a:pPr algn="l">
              <a:def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but diffusion context entered only once.</a:t>
            </a:r>
          </a:p>
        </p:txBody>
      </p:sp>
      <p:sp>
        <p:nvSpPr>
          <p:cNvPr id="9" name="support-note">
            <a:extLst>
              <a:ext uri="{FF2B5EF4-FFF2-40B4-BE49-F238E27FC236}">
                <a16:creationId xmlns:a16="http://schemas.microsoft.com/office/drawing/2014/main" id="{E1E191A3-54C6-43FA-AAD1-9A3AA6BDF9E4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990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The architecture already used an EfficientNet-B7 U-Net. The main limitation was how the timestep signal reached the model.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7B567E-9302-479B-A4F3-DF2E0F40B810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ORIGINAL FORWARD PATH</a:t>
            </a:r>
          </a:p>
        </p:txBody>
      </p:sp>
      <p:sp>
        <p:nvSpPr>
          <p:cNvPr id="11" name="baseline-image">
            <a:extLst>
              <a:ext uri="{FF2B5EF4-FFF2-40B4-BE49-F238E27FC236}">
                <a16:creationId xmlns:a16="http://schemas.microsoft.com/office/drawing/2014/main" id="{9E4F2FC2-D87E-4180-ABF8-1D4696E2FA4A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1524000" cy="99060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seline-image-tag">
            <a:extLst>
              <a:ext uri="{FF2B5EF4-FFF2-40B4-BE49-F238E27FC236}">
                <a16:creationId xmlns:a16="http://schemas.microsoft.com/office/drawing/2014/main" id="{F5AA39C4-0768-4D0F-BEAE-E16B8AD082EA}"/>
              </a:ext>
            </a:extLst>
          </p:cNvPr>
          <p:cNvSpPr>
            <a:spLocks noGrp="1"/>
          </p:cNvSpPr>
          <p:nvPr/>
        </p:nvSpPr>
        <p:spPr>
          <a:xfrm>
            <a:off x="800100" y="2876550"/>
            <a:ext cx="1257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X0</a:t>
            </a:r>
          </a:p>
        </p:txBody>
      </p:sp>
      <p:sp>
        <p:nvSpPr>
          <p:cNvPr id="13" name="baseline-image-label">
            <a:extLst>
              <a:ext uri="{FF2B5EF4-FFF2-40B4-BE49-F238E27FC236}">
                <a16:creationId xmlns:a16="http://schemas.microsoft.com/office/drawing/2014/main" id="{BD672223-2E79-41B7-AF55-329B61DDC5FD}"/>
              </a:ext>
            </a:extLst>
          </p:cNvPr>
          <p:cNvSpPr>
            <a:spLocks noGrp="1"/>
          </p:cNvSpPr>
          <p:nvPr/>
        </p:nvSpPr>
        <p:spPr>
          <a:xfrm>
            <a:off x="800100" y="3076575"/>
            <a:ext cx="12573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NICFI image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[0, 1]</a:t>
            </a:r>
          </a:p>
        </p:txBody>
      </p:sp>
      <p:sp>
        <p:nvSpPr>
          <p:cNvPr id="14" name="baseline-arrow-1-line">
            <a:extLst>
              <a:ext uri="{FF2B5EF4-FFF2-40B4-BE49-F238E27FC236}">
                <a16:creationId xmlns:a16="http://schemas.microsoft.com/office/drawing/2014/main" id="{3D6C276A-4384-42CA-9B49-D5740D4C3264}"/>
              </a:ext>
            </a:extLst>
          </p:cNvPr>
          <p:cNvSpPr>
            <a:spLocks noGrp="1"/>
          </p:cNvSpPr>
          <p:nvPr/>
        </p:nvSpPr>
        <p:spPr>
          <a:xfrm>
            <a:off x="2209800" y="3276600"/>
            <a:ext cx="419100" cy="2857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aseline-arrow-1-head">
            <a:extLst>
              <a:ext uri="{FF2B5EF4-FFF2-40B4-BE49-F238E27FC236}">
                <a16:creationId xmlns:a16="http://schemas.microsoft.com/office/drawing/2014/main" id="{22CCFBAC-2B25-4430-956E-3F42B4735B9D}"/>
              </a:ext>
            </a:extLst>
          </p:cNvPr>
          <p:cNvSpPr>
            <a:spLocks noGrp="1"/>
          </p:cNvSpPr>
          <p:nvPr/>
        </p:nvSpPr>
        <p:spPr>
          <a:xfrm>
            <a:off x="2609850" y="313372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baseline-bias">
            <a:extLst>
              <a:ext uri="{FF2B5EF4-FFF2-40B4-BE49-F238E27FC236}">
                <a16:creationId xmlns:a16="http://schemas.microsoft.com/office/drawing/2014/main" id="{5BB77942-28D2-4F85-A798-61C8EBA4C0AA}"/>
              </a:ext>
            </a:extLst>
          </p:cNvPr>
          <p:cNvSpPr>
            <a:spLocks noGrp="1"/>
          </p:cNvSpPr>
          <p:nvPr/>
        </p:nvSpPr>
        <p:spPr>
          <a:xfrm>
            <a:off x="2800350" y="2781300"/>
            <a:ext cx="1676400" cy="990600"/>
          </a:xfrm>
          <a:prstGeom prst="rect">
            <a:avLst/>
          </a:prstGeom>
          <a:solidFill>
            <a:srgbClr val="20304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seline-bias-tag">
            <a:extLst>
              <a:ext uri="{FF2B5EF4-FFF2-40B4-BE49-F238E27FC236}">
                <a16:creationId xmlns:a16="http://schemas.microsoft.com/office/drawing/2014/main" id="{5B124124-A1CD-4662-BF33-01E9E7744AA5}"/>
              </a:ext>
            </a:extLst>
          </p:cNvPr>
          <p:cNvSpPr>
            <a:spLocks noGrp="1"/>
          </p:cNvSpPr>
          <p:nvPr/>
        </p:nvSpPr>
        <p:spPr>
          <a:xfrm>
            <a:off x="2933700" y="2876550"/>
            <a:ext cx="1409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D98278"/>
                </a:solidFill>
                <a:latin typeface="Aptos Mono"/>
                <a:ea typeface="Aptos Mono"/>
                <a:cs typeface="Aptos Mono"/>
              </a:rPr>
              <a:t>INPUT-LEVEL ONLY</a:t>
            </a:r>
          </a:p>
        </p:txBody>
      </p:sp>
      <p:sp>
        <p:nvSpPr>
          <p:cNvPr id="18" name="baseline-bias-label">
            <a:extLst>
              <a:ext uri="{FF2B5EF4-FFF2-40B4-BE49-F238E27FC236}">
                <a16:creationId xmlns:a16="http://schemas.microsoft.com/office/drawing/2014/main" id="{5432602C-5A59-41AF-B924-365AE7EC9F5E}"/>
              </a:ext>
            </a:extLst>
          </p:cNvPr>
          <p:cNvSpPr>
            <a:spLocks noGrp="1"/>
          </p:cNvSpPr>
          <p:nvPr/>
        </p:nvSpPr>
        <p:spPr>
          <a:xfrm>
            <a:off x="2933700" y="3076575"/>
            <a:ext cx="1409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x + timestep bias</a:t>
            </a:r>
          </a:p>
        </p:txBody>
      </p:sp>
      <p:sp>
        <p:nvSpPr>
          <p:cNvPr id="19" name="baseline-arrow-2-line">
            <a:extLst>
              <a:ext uri="{FF2B5EF4-FFF2-40B4-BE49-F238E27FC236}">
                <a16:creationId xmlns:a16="http://schemas.microsoft.com/office/drawing/2014/main" id="{5C814DFE-7265-468D-98E3-D72524D9A7C9}"/>
              </a:ext>
            </a:extLst>
          </p:cNvPr>
          <p:cNvSpPr>
            <a:spLocks noGrp="1"/>
          </p:cNvSpPr>
          <p:nvPr/>
        </p:nvSpPr>
        <p:spPr>
          <a:xfrm>
            <a:off x="4495800" y="3276600"/>
            <a:ext cx="419100" cy="2857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aseline-arrow-2-head">
            <a:extLst>
              <a:ext uri="{FF2B5EF4-FFF2-40B4-BE49-F238E27FC236}">
                <a16:creationId xmlns:a16="http://schemas.microsoft.com/office/drawing/2014/main" id="{D4B55D95-E0D2-4532-A90E-8D34A3363CF7}"/>
              </a:ext>
            </a:extLst>
          </p:cNvPr>
          <p:cNvSpPr>
            <a:spLocks noGrp="1"/>
          </p:cNvSpPr>
          <p:nvPr/>
        </p:nvSpPr>
        <p:spPr>
          <a:xfrm>
            <a:off x="4895850" y="313372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baseline-unet">
            <a:extLst>
              <a:ext uri="{FF2B5EF4-FFF2-40B4-BE49-F238E27FC236}">
                <a16:creationId xmlns:a16="http://schemas.microsoft.com/office/drawing/2014/main" id="{35CDCA5A-DBA5-4269-B145-F47185DBC115}"/>
              </a:ext>
            </a:extLst>
          </p:cNvPr>
          <p:cNvSpPr>
            <a:spLocks noGrp="1"/>
          </p:cNvSpPr>
          <p:nvPr/>
        </p:nvSpPr>
        <p:spPr>
          <a:xfrm>
            <a:off x="5086350" y="2781300"/>
            <a:ext cx="1943100" cy="99060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aseline-unet-tag">
            <a:extLst>
              <a:ext uri="{FF2B5EF4-FFF2-40B4-BE49-F238E27FC236}">
                <a16:creationId xmlns:a16="http://schemas.microsoft.com/office/drawing/2014/main" id="{7049134C-E1DB-4AF2-A291-BC559A20F584}"/>
              </a:ext>
            </a:extLst>
          </p:cNvPr>
          <p:cNvSpPr>
            <a:spLocks noGrp="1"/>
          </p:cNvSpPr>
          <p:nvPr/>
        </p:nvSpPr>
        <p:spPr>
          <a:xfrm>
            <a:off x="5219700" y="287655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UNCHANGED CORE</a:t>
            </a:r>
          </a:p>
        </p:txBody>
      </p:sp>
      <p:sp>
        <p:nvSpPr>
          <p:cNvPr id="23" name="baseline-unet-label">
            <a:extLst>
              <a:ext uri="{FF2B5EF4-FFF2-40B4-BE49-F238E27FC236}">
                <a16:creationId xmlns:a16="http://schemas.microsoft.com/office/drawing/2014/main" id="{C4E2C668-791E-4204-A278-AC0F71191CB5}"/>
              </a:ext>
            </a:extLst>
          </p:cNvPr>
          <p:cNvSpPr>
            <a:spLocks noGrp="1"/>
          </p:cNvSpPr>
          <p:nvPr/>
        </p:nvSpPr>
        <p:spPr>
          <a:xfrm>
            <a:off x="5219700" y="3076575"/>
            <a:ext cx="16764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EfficientNet-B7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SMP U-Net</a:t>
            </a:r>
          </a:p>
        </p:txBody>
      </p:sp>
      <p:sp>
        <p:nvSpPr>
          <p:cNvPr id="24" name="baseline-arrow-3-line">
            <a:extLst>
              <a:ext uri="{FF2B5EF4-FFF2-40B4-BE49-F238E27FC236}">
                <a16:creationId xmlns:a16="http://schemas.microsoft.com/office/drawing/2014/main" id="{B2390FF2-FEDB-4E7B-8FDD-CEED02AE1F1B}"/>
              </a:ext>
            </a:extLst>
          </p:cNvPr>
          <p:cNvSpPr>
            <a:spLocks noGrp="1"/>
          </p:cNvSpPr>
          <p:nvPr/>
        </p:nvSpPr>
        <p:spPr>
          <a:xfrm>
            <a:off x="7048500" y="3276600"/>
            <a:ext cx="419100" cy="2857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aseline-arrow-3-head">
            <a:extLst>
              <a:ext uri="{FF2B5EF4-FFF2-40B4-BE49-F238E27FC236}">
                <a16:creationId xmlns:a16="http://schemas.microsoft.com/office/drawing/2014/main" id="{C0F9C4F6-314E-4257-8DAF-C112C9033D5E}"/>
              </a:ext>
            </a:extLst>
          </p:cNvPr>
          <p:cNvSpPr>
            <a:spLocks noGrp="1"/>
          </p:cNvSpPr>
          <p:nvPr/>
        </p:nvSpPr>
        <p:spPr>
          <a:xfrm>
            <a:off x="7448550" y="313372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baseline-output">
            <a:extLst>
              <a:ext uri="{FF2B5EF4-FFF2-40B4-BE49-F238E27FC236}">
                <a16:creationId xmlns:a16="http://schemas.microsoft.com/office/drawing/2014/main" id="{EB6856C9-176E-45DB-A600-B86204D76D98}"/>
              </a:ext>
            </a:extLst>
          </p:cNvPr>
          <p:cNvSpPr>
            <a:spLocks noGrp="1"/>
          </p:cNvSpPr>
          <p:nvPr/>
        </p:nvSpPr>
        <p:spPr>
          <a:xfrm>
            <a:off x="7639050" y="2781300"/>
            <a:ext cx="1524000" cy="99060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aseline-output-tag">
            <a:extLst>
              <a:ext uri="{FF2B5EF4-FFF2-40B4-BE49-F238E27FC236}">
                <a16:creationId xmlns:a16="http://schemas.microsoft.com/office/drawing/2014/main" id="{8EC2B95A-67A4-47D9-BE3B-257292E1C721}"/>
              </a:ext>
            </a:extLst>
          </p:cNvPr>
          <p:cNvSpPr>
            <a:spLocks noGrp="1"/>
          </p:cNvSpPr>
          <p:nvPr/>
        </p:nvSpPr>
        <p:spPr>
          <a:xfrm>
            <a:off x="7772400" y="2876550"/>
            <a:ext cx="1257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MSE TARGET</a:t>
            </a:r>
          </a:p>
        </p:txBody>
      </p:sp>
      <p:sp>
        <p:nvSpPr>
          <p:cNvPr id="28" name="baseline-output-label">
            <a:extLst>
              <a:ext uri="{FF2B5EF4-FFF2-40B4-BE49-F238E27FC236}">
                <a16:creationId xmlns:a16="http://schemas.microsoft.com/office/drawing/2014/main" id="{60F57B6F-15C9-44F9-B8B4-E36D5FF4AC5F}"/>
              </a:ext>
            </a:extLst>
          </p:cNvPr>
          <p:cNvSpPr>
            <a:spLocks noGrp="1"/>
          </p:cNvSpPr>
          <p:nvPr/>
        </p:nvSpPr>
        <p:spPr>
          <a:xfrm>
            <a:off x="7772400" y="3076575"/>
            <a:ext cx="12573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Predicted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noise</a:t>
            </a:r>
          </a:p>
        </p:txBody>
      </p:sp>
      <p:sp>
        <p:nvSpPr>
          <p:cNvPr id="29" name="baseline-limitations">
            <a:extLst>
              <a:ext uri="{FF2B5EF4-FFF2-40B4-BE49-F238E27FC236}">
                <a16:creationId xmlns:a16="http://schemas.microsoft.com/office/drawing/2014/main" id="{857F31A1-7210-4F29-B779-77168B66C864}"/>
              </a:ext>
            </a:extLst>
          </p:cNvPr>
          <p:cNvSpPr>
            <a:spLocks noGrp="1"/>
          </p:cNvSpPr>
          <p:nvPr/>
        </p:nvSpPr>
        <p:spPr>
          <a:xfrm>
            <a:off x="9544050" y="2324100"/>
            <a:ext cx="2057400" cy="295275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14EE58-12CB-4B01-A4CC-48C8A5570686}"/>
              </a:ext>
            </a:extLst>
          </p:cNvPr>
          <p:cNvSpPr>
            <a:spLocks noGrp="1"/>
          </p:cNvSpPr>
          <p:nvPr/>
        </p:nvSpPr>
        <p:spPr>
          <a:xfrm>
            <a:off x="9753600" y="2533650"/>
            <a:ext cx="1638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D9827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98278"/>
                </a:solidFill>
                <a:latin typeface="Aptos Mono"/>
                <a:ea typeface="Aptos Mono"/>
                <a:cs typeface="Aptos Mono"/>
              </a:rPr>
              <a:t>BASELINE LIMITS</a:t>
            </a:r>
          </a:p>
        </p:txBody>
      </p:sp>
      <p:sp>
        <p:nvSpPr>
          <p:cNvPr id="31" name="limit-1">
            <a:extLst>
              <a:ext uri="{FF2B5EF4-FFF2-40B4-BE49-F238E27FC236}">
                <a16:creationId xmlns:a16="http://schemas.microsoft.com/office/drawing/2014/main" id="{9CAD5CC7-0DD2-4E45-AEFA-1C86048B5338}"/>
              </a:ext>
            </a:extLst>
          </p:cNvPr>
          <p:cNvSpPr>
            <a:spLocks noGrp="1"/>
          </p:cNvSpPr>
          <p:nvPr/>
        </p:nvSpPr>
        <p:spPr>
          <a:xfrm>
            <a:off x="9753600" y="2971800"/>
            <a:ext cx="76200" cy="762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limit-1-text">
            <a:extLst>
              <a:ext uri="{FF2B5EF4-FFF2-40B4-BE49-F238E27FC236}">
                <a16:creationId xmlns:a16="http://schemas.microsoft.com/office/drawing/2014/main" id="{0D2804E7-ADB5-431B-985D-A3131399CD9A}"/>
              </a:ext>
            </a:extLst>
          </p:cNvPr>
          <p:cNvSpPr>
            <a:spLocks noGrp="1"/>
          </p:cNvSpPr>
          <p:nvPr/>
        </p:nvSpPr>
        <p:spPr>
          <a:xfrm>
            <a:off x="9925050" y="2914650"/>
            <a:ext cx="1619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Input bias only; no multiscale conditioning.</a:t>
            </a:r>
          </a:p>
        </p:txBody>
      </p:sp>
      <p:sp>
        <p:nvSpPr>
          <p:cNvPr id="33" name="limit-2">
            <a:extLst>
              <a:ext uri="{FF2B5EF4-FFF2-40B4-BE49-F238E27FC236}">
                <a16:creationId xmlns:a16="http://schemas.microsoft.com/office/drawing/2014/main" id="{7B21F330-5530-429D-A82C-4A3EC098D904}"/>
              </a:ext>
            </a:extLst>
          </p:cNvPr>
          <p:cNvSpPr>
            <a:spLocks noGrp="1"/>
          </p:cNvSpPr>
          <p:nvPr/>
        </p:nvSpPr>
        <p:spPr>
          <a:xfrm>
            <a:off x="9753600" y="3695700"/>
            <a:ext cx="76200" cy="762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limit-2-text">
            <a:extLst>
              <a:ext uri="{FF2B5EF4-FFF2-40B4-BE49-F238E27FC236}">
                <a16:creationId xmlns:a16="http://schemas.microsoft.com/office/drawing/2014/main" id="{4003BBFA-E3BE-4380-9FB7-3787D7CDFBA5}"/>
              </a:ext>
            </a:extLst>
          </p:cNvPr>
          <p:cNvSpPr>
            <a:spLocks noGrp="1"/>
          </p:cNvSpPr>
          <p:nvPr/>
        </p:nvSpPr>
        <p:spPr>
          <a:xfrm>
            <a:off x="9925050" y="3638550"/>
            <a:ext cx="1619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Raw [0, 1] images entered the diffusion process.</a:t>
            </a:r>
          </a:p>
        </p:txBody>
      </p:sp>
      <p:sp>
        <p:nvSpPr>
          <p:cNvPr id="35" name="limit-3">
            <a:extLst>
              <a:ext uri="{FF2B5EF4-FFF2-40B4-BE49-F238E27FC236}">
                <a16:creationId xmlns:a16="http://schemas.microsoft.com/office/drawing/2014/main" id="{D6963147-67DE-41BE-ABFE-78371EAB6F22}"/>
              </a:ext>
            </a:extLst>
          </p:cNvPr>
          <p:cNvSpPr>
            <a:spLocks noGrp="1"/>
          </p:cNvSpPr>
          <p:nvPr/>
        </p:nvSpPr>
        <p:spPr>
          <a:xfrm>
            <a:off x="9753600" y="4419600"/>
            <a:ext cx="76200" cy="762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limit-3-text">
            <a:extLst>
              <a:ext uri="{FF2B5EF4-FFF2-40B4-BE49-F238E27FC236}">
                <a16:creationId xmlns:a16="http://schemas.microsoft.com/office/drawing/2014/main" id="{F0D3EEDF-5D1A-49AC-8D24-4326BA9D6506}"/>
              </a:ext>
            </a:extLst>
          </p:cNvPr>
          <p:cNvSpPr>
            <a:spLocks noGrp="1"/>
          </p:cNvSpPr>
          <p:nvPr/>
        </p:nvSpPr>
        <p:spPr>
          <a:xfrm>
            <a:off x="9925050" y="4362450"/>
            <a:ext cx="1619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Validation reported aggregate loss only.</a:t>
            </a:r>
          </a:p>
        </p:txBody>
      </p:sp>
      <p:sp>
        <p:nvSpPr>
          <p:cNvPr id="37" name="baseline-config">
            <a:extLst>
              <a:ext uri="{FF2B5EF4-FFF2-40B4-BE49-F238E27FC236}">
                <a16:creationId xmlns:a16="http://schemas.microsoft.com/office/drawing/2014/main" id="{BD2E22B7-5DC2-4C0E-AF01-EA5D4104EC24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8496300" cy="914400"/>
          </a:xfrm>
          <a:prstGeom prst="rect">
            <a:avLst/>
          </a:prstGeom>
          <a:solidFill>
            <a:srgbClr val="121C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F04A7-ABD6-41AA-8D0B-FD58F259CD94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BASELINE CONFIGURATION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0E1135-D965-4E15-865E-E5EA135A68E4}"/>
              </a:ext>
            </a:extLst>
          </p:cNvPr>
          <p:cNvSpPr>
            <a:spLocks noGrp="1"/>
          </p:cNvSpPr>
          <p:nvPr/>
        </p:nvSpPr>
        <p:spPr>
          <a:xfrm>
            <a:off x="876300" y="50673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10,000 linear steps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2C2A3C-BF78-48B7-98AD-8C51FA8E75AF}"/>
              </a:ext>
            </a:extLst>
          </p:cNvPr>
          <p:cNvSpPr>
            <a:spLocks noGrp="1"/>
          </p:cNvSpPr>
          <p:nvPr/>
        </p:nvSpPr>
        <p:spPr>
          <a:xfrm>
            <a:off x="3257550" y="50673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2 CUDA devices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B313A2-19D1-4FA8-B204-0849F26961EF}"/>
              </a:ext>
            </a:extLst>
          </p:cNvPr>
          <p:cNvSpPr>
            <a:spLocks noGrp="1"/>
          </p:cNvSpPr>
          <p:nvPr/>
        </p:nvSpPr>
        <p:spPr>
          <a:xfrm>
            <a:off x="5448300" y="50673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DDP unused-parameter scan</a:t>
            </a:r>
          </a:p>
        </p:txBody>
      </p:sp>
    </p:spTree>
    <p:extLst>
      <p:ext uri="{BB962C8B-B14F-4D97-AF65-F5344CB8AC3E}">
        <p14:creationId xmlns:p14="http://schemas.microsoft.com/office/powerpoint/2010/main" val="1247638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ackground">
            <a:extLst>
              <a:ext uri="{FF2B5EF4-FFF2-40B4-BE49-F238E27FC236}">
                <a16:creationId xmlns:a16="http://schemas.microsoft.com/office/drawing/2014/main" id="{622FB2B4-C97C-4B81-AE34-1C7415DBE9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left-accent">
            <a:extLst>
              <a:ext uri="{FF2B5EF4-FFF2-40B4-BE49-F238E27FC236}">
                <a16:creationId xmlns:a16="http://schemas.microsoft.com/office/drawing/2014/main" id="{CF24E4F0-34E1-43BD-BFA4-AE93E38235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CE24155E-7916-4F58-86D1-D323D65500F6}"/>
              </a:ext>
            </a:extLst>
          </p:cNvPr>
          <p:cNvSpPr>
            <a:spLocks noGrp="1"/>
          </p:cNvSpPr>
          <p:nvPr/>
        </p:nvSpPr>
        <p:spPr>
          <a:xfrm>
            <a:off x="438150" y="6419850"/>
            <a:ext cx="113157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source">
            <a:extLst>
              <a:ext uri="{FF2B5EF4-FFF2-40B4-BE49-F238E27FC236}">
                <a16:creationId xmlns:a16="http://schemas.microsoft.com/office/drawing/2014/main" id="{D4CD1DEF-E6C0-4152-9268-523CA12FB951}"/>
              </a:ext>
            </a:extLst>
          </p:cNvPr>
          <p:cNvSpPr>
            <a:spLocks noGrp="1"/>
          </p:cNvSpPr>
          <p:nvPr/>
        </p:nvSpPr>
        <p:spPr>
          <a:xfrm>
            <a:off x="457200" y="6553200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FTW / NICFI PRETRAINING</a:t>
            </a:r>
          </a:p>
        </p:txBody>
      </p:sp>
      <p:sp>
        <p:nvSpPr>
          <p:cNvPr id="5" name="footer-page">
            <a:extLst>
              <a:ext uri="{FF2B5EF4-FFF2-40B4-BE49-F238E27FC236}">
                <a16:creationId xmlns:a16="http://schemas.microsoft.com/office/drawing/2014/main" id="{BC1E670B-29E0-4D28-8042-97E7E3FB3682}"/>
              </a:ext>
            </a:extLst>
          </p:cNvPr>
          <p:cNvSpPr>
            <a:spLocks noGrp="1"/>
          </p:cNvSpPr>
          <p:nvPr/>
        </p:nvSpPr>
        <p:spPr>
          <a:xfrm>
            <a:off x="9906000" y="655320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ARCHITECTURE  |  03</a:t>
            </a:r>
          </a:p>
        </p:txBody>
      </p:sp>
      <p:sp>
        <p:nvSpPr>
          <p:cNvPr id="6" name="kicker-03-marker">
            <a:extLst>
              <a:ext uri="{FF2B5EF4-FFF2-40B4-BE49-F238E27FC236}">
                <a16:creationId xmlns:a16="http://schemas.microsoft.com/office/drawing/2014/main" id="{386F3961-1598-4F06-8DC8-2FA22D392A19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95250" cy="95250"/>
          </a:xfrm>
          <a:prstGeom prst="ellipse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icker-03-label">
            <a:extLst>
              <a:ext uri="{FF2B5EF4-FFF2-40B4-BE49-F238E27FC236}">
                <a16:creationId xmlns:a16="http://schemas.microsoft.com/office/drawing/2014/main" id="{1D6DAE79-FDBA-446A-80A5-736482C39E54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MULTISCALE CONDITIONING</a:t>
            </a:r>
          </a:p>
        </p:txBody>
      </p:sp>
      <p:sp>
        <p:nvSpPr>
          <p:cNvPr id="8" name="claim-title">
            <a:extLst>
              <a:ext uri="{FF2B5EF4-FFF2-40B4-BE49-F238E27FC236}">
                <a16:creationId xmlns:a16="http://schemas.microsoft.com/office/drawing/2014/main" id="{8D6498F0-BFFB-4192-9B71-6E04F698DF32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Timestep context now reaches every scale</a:t>
            </a:r>
          </a:p>
          <a:p>
            <a:pPr algn="l">
              <a:def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while EfficientNet-B7 stays intact.</a:t>
            </a:r>
          </a:p>
        </p:txBody>
      </p:sp>
      <p:sp>
        <p:nvSpPr>
          <p:cNvPr id="9" name="support-note">
            <a:extLst>
              <a:ext uri="{FF2B5EF4-FFF2-40B4-BE49-F238E27FC236}">
                <a16:creationId xmlns:a16="http://schemas.microsoft.com/office/drawing/2014/main" id="{FC8F9968-290C-4736-A7FD-1487FE358811}"/>
              </a:ext>
            </a:extLst>
          </p:cNvPr>
          <p:cNvSpPr>
            <a:spLocks noGrp="1"/>
          </p:cNvSpPr>
          <p:nvPr/>
        </p:nvSpPr>
        <p:spPr>
          <a:xfrm>
            <a:off x="514350" y="169545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FiLM layers apply a learned scale and shift to encoder feature maps and decoder blocks. The EfficientNet parameters and shapes remain unchanged.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35438F-0A12-4E5A-97E1-571270A5BED5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ENCODER FEATURE PYRAMID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D9F7-EBDC-4C70-821A-CC5272CE85B9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DECODER BLOCKS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F7D25B-9539-4828-B8E5-7C2905CD5E02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D9827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98278"/>
                </a:solidFill>
                <a:latin typeface="Aptos Mono"/>
                <a:ea typeface="Aptos Mono"/>
                <a:cs typeface="Aptos Mono"/>
              </a:rPr>
              <a:t>TIMESTEP MLP</a:t>
            </a:r>
          </a:p>
        </p:txBody>
      </p:sp>
      <p:sp>
        <p:nvSpPr>
          <p:cNvPr id="13" name="enc-0">
            <a:extLst>
              <a:ext uri="{FF2B5EF4-FFF2-40B4-BE49-F238E27FC236}">
                <a16:creationId xmlns:a16="http://schemas.microsoft.com/office/drawing/2014/main" id="{CABEC9C2-B289-487B-BADD-71FB7826E18E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1600200" cy="457200"/>
          </a:xfrm>
          <a:prstGeom prst="rect">
            <a:avLst/>
          </a:prstGeom>
          <a:solidFill>
            <a:srgbClr val="182434"/>
          </a:solidFill>
          <a:ln w="19050">
            <a:solidFill>
              <a:srgbClr val="83C6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nc-0-label">
            <a:extLst>
              <a:ext uri="{FF2B5EF4-FFF2-40B4-BE49-F238E27FC236}">
                <a16:creationId xmlns:a16="http://schemas.microsoft.com/office/drawing/2014/main" id="{FD56E4F9-5D39-4F63-BEC8-E04C0B4A4D72}"/>
              </a:ext>
            </a:extLst>
          </p:cNvPr>
          <p:cNvSpPr>
            <a:spLocks noGrp="1"/>
          </p:cNvSpPr>
          <p:nvPr/>
        </p:nvSpPr>
        <p:spPr>
          <a:xfrm>
            <a:off x="971550" y="297180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E0  4-channel input</a:t>
            </a:r>
          </a:p>
        </p:txBody>
      </p:sp>
      <p:sp>
        <p:nvSpPr>
          <p:cNvPr id="15" name="enc-1">
            <a:extLst>
              <a:ext uri="{FF2B5EF4-FFF2-40B4-BE49-F238E27FC236}">
                <a16:creationId xmlns:a16="http://schemas.microsoft.com/office/drawing/2014/main" id="{42EE1B03-5BD8-44D6-ADB8-B41B45817808}"/>
              </a:ext>
            </a:extLst>
          </p:cNvPr>
          <p:cNvSpPr>
            <a:spLocks noGrp="1"/>
          </p:cNvSpPr>
          <p:nvPr/>
        </p:nvSpPr>
        <p:spPr>
          <a:xfrm>
            <a:off x="1085850" y="3524250"/>
            <a:ext cx="1600200" cy="457200"/>
          </a:xfrm>
          <a:prstGeom prst="rect">
            <a:avLst/>
          </a:prstGeom>
          <a:solidFill>
            <a:srgbClr val="182434"/>
          </a:solidFill>
          <a:ln w="19050">
            <a:solidFill>
              <a:srgbClr val="83C6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nc-1-label">
            <a:extLst>
              <a:ext uri="{FF2B5EF4-FFF2-40B4-BE49-F238E27FC236}">
                <a16:creationId xmlns:a16="http://schemas.microsoft.com/office/drawing/2014/main" id="{A729B44A-97D1-4F04-92A4-CC0B0DF32876}"/>
              </a:ext>
            </a:extLst>
          </p:cNvPr>
          <p:cNvSpPr>
            <a:spLocks noGrp="1"/>
          </p:cNvSpPr>
          <p:nvPr/>
        </p:nvSpPr>
        <p:spPr>
          <a:xfrm>
            <a:off x="1200150" y="361950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E1  shallow features</a:t>
            </a:r>
          </a:p>
        </p:txBody>
      </p:sp>
      <p:sp>
        <p:nvSpPr>
          <p:cNvPr id="17" name="enc-2">
            <a:extLst>
              <a:ext uri="{FF2B5EF4-FFF2-40B4-BE49-F238E27FC236}">
                <a16:creationId xmlns:a16="http://schemas.microsoft.com/office/drawing/2014/main" id="{BBEFD25F-C181-4716-A8C1-51AE3C92B7B9}"/>
              </a:ext>
            </a:extLst>
          </p:cNvPr>
          <p:cNvSpPr>
            <a:spLocks noGrp="1"/>
          </p:cNvSpPr>
          <p:nvPr/>
        </p:nvSpPr>
        <p:spPr>
          <a:xfrm>
            <a:off x="1314450" y="4171950"/>
            <a:ext cx="1600200" cy="457200"/>
          </a:xfrm>
          <a:prstGeom prst="rect">
            <a:avLst/>
          </a:prstGeom>
          <a:solidFill>
            <a:srgbClr val="182434"/>
          </a:solidFill>
          <a:ln w="19050">
            <a:solidFill>
              <a:srgbClr val="83C6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enc-2-label">
            <a:extLst>
              <a:ext uri="{FF2B5EF4-FFF2-40B4-BE49-F238E27FC236}">
                <a16:creationId xmlns:a16="http://schemas.microsoft.com/office/drawing/2014/main" id="{32EE6E4C-9395-4AB4-9E6A-17A027749A60}"/>
              </a:ext>
            </a:extLst>
          </p:cNvPr>
          <p:cNvSpPr>
            <a:spLocks noGrp="1"/>
          </p:cNvSpPr>
          <p:nvPr/>
        </p:nvSpPr>
        <p:spPr>
          <a:xfrm>
            <a:off x="1428750" y="426720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E2  mid-level features</a:t>
            </a:r>
          </a:p>
        </p:txBody>
      </p:sp>
      <p:sp>
        <p:nvSpPr>
          <p:cNvPr id="19" name="enc-3">
            <a:extLst>
              <a:ext uri="{FF2B5EF4-FFF2-40B4-BE49-F238E27FC236}">
                <a16:creationId xmlns:a16="http://schemas.microsoft.com/office/drawing/2014/main" id="{0693B047-25A7-45C9-9D74-09ABEE6FD57A}"/>
              </a:ext>
            </a:extLst>
          </p:cNvPr>
          <p:cNvSpPr>
            <a:spLocks noGrp="1"/>
          </p:cNvSpPr>
          <p:nvPr/>
        </p:nvSpPr>
        <p:spPr>
          <a:xfrm>
            <a:off x="1543050" y="4819650"/>
            <a:ext cx="1600200" cy="457200"/>
          </a:xfrm>
          <a:prstGeom prst="rect">
            <a:avLst/>
          </a:prstGeom>
          <a:solidFill>
            <a:srgbClr val="182434"/>
          </a:solidFill>
          <a:ln w="19050">
            <a:solidFill>
              <a:srgbClr val="83C6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nc-3-label">
            <a:extLst>
              <a:ext uri="{FF2B5EF4-FFF2-40B4-BE49-F238E27FC236}">
                <a16:creationId xmlns:a16="http://schemas.microsoft.com/office/drawing/2014/main" id="{39CD5FE6-54DA-46BD-A0E1-CC75CB45A995}"/>
              </a:ext>
            </a:extLst>
          </p:cNvPr>
          <p:cNvSpPr>
            <a:spLocks noGrp="1"/>
          </p:cNvSpPr>
          <p:nvPr/>
        </p:nvSpPr>
        <p:spPr>
          <a:xfrm>
            <a:off x="1657350" y="491490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E3+ deep features</a:t>
            </a:r>
          </a:p>
        </p:txBody>
      </p:sp>
      <p:sp>
        <p:nvSpPr>
          <p:cNvPr id="21" name="enc-arrow-1-line">
            <a:extLst>
              <a:ext uri="{FF2B5EF4-FFF2-40B4-BE49-F238E27FC236}">
                <a16:creationId xmlns:a16="http://schemas.microsoft.com/office/drawing/2014/main" id="{CD7A595C-0F7B-405C-93E6-10128606038F}"/>
              </a:ext>
            </a:extLst>
          </p:cNvPr>
          <p:cNvSpPr>
            <a:spLocks noGrp="1"/>
          </p:cNvSpPr>
          <p:nvPr/>
        </p:nvSpPr>
        <p:spPr>
          <a:xfrm>
            <a:off x="2590800" y="3333750"/>
            <a:ext cx="28575" cy="57150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enc-arrow-1-head">
            <a:extLst>
              <a:ext uri="{FF2B5EF4-FFF2-40B4-BE49-F238E27FC236}">
                <a16:creationId xmlns:a16="http://schemas.microsoft.com/office/drawing/2014/main" id="{AF295A5A-9CD8-4529-BE13-725AB2AB04EF}"/>
              </a:ext>
            </a:extLst>
          </p:cNvPr>
          <p:cNvSpPr>
            <a:spLocks noGrp="1"/>
          </p:cNvSpPr>
          <p:nvPr/>
        </p:nvSpPr>
        <p:spPr>
          <a:xfrm>
            <a:off x="2524125" y="33528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3" name="enc-arrow-2-line">
            <a:extLst>
              <a:ext uri="{FF2B5EF4-FFF2-40B4-BE49-F238E27FC236}">
                <a16:creationId xmlns:a16="http://schemas.microsoft.com/office/drawing/2014/main" id="{811700F9-120A-4B04-AF91-2A96862D4207}"/>
              </a:ext>
            </a:extLst>
          </p:cNvPr>
          <p:cNvSpPr>
            <a:spLocks noGrp="1"/>
          </p:cNvSpPr>
          <p:nvPr/>
        </p:nvSpPr>
        <p:spPr>
          <a:xfrm>
            <a:off x="2819400" y="3981450"/>
            <a:ext cx="28575" cy="57150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enc-arrow-2-head">
            <a:extLst>
              <a:ext uri="{FF2B5EF4-FFF2-40B4-BE49-F238E27FC236}">
                <a16:creationId xmlns:a16="http://schemas.microsoft.com/office/drawing/2014/main" id="{D2F70995-2542-4A1F-AC0B-8061CDDFC10F}"/>
              </a:ext>
            </a:extLst>
          </p:cNvPr>
          <p:cNvSpPr>
            <a:spLocks noGrp="1"/>
          </p:cNvSpPr>
          <p:nvPr/>
        </p:nvSpPr>
        <p:spPr>
          <a:xfrm>
            <a:off x="2752725" y="40005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5" name="enc-arrow-3-line">
            <a:extLst>
              <a:ext uri="{FF2B5EF4-FFF2-40B4-BE49-F238E27FC236}">
                <a16:creationId xmlns:a16="http://schemas.microsoft.com/office/drawing/2014/main" id="{C0A5128A-E50B-4FC9-83B2-C76F46BA2215}"/>
              </a:ext>
            </a:extLst>
          </p:cNvPr>
          <p:cNvSpPr>
            <a:spLocks noGrp="1"/>
          </p:cNvSpPr>
          <p:nvPr/>
        </p:nvSpPr>
        <p:spPr>
          <a:xfrm>
            <a:off x="3048000" y="4629150"/>
            <a:ext cx="28575" cy="57150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enc-arrow-3-head">
            <a:extLst>
              <a:ext uri="{FF2B5EF4-FFF2-40B4-BE49-F238E27FC236}">
                <a16:creationId xmlns:a16="http://schemas.microsoft.com/office/drawing/2014/main" id="{C87848A6-8152-43F9-979F-21221A13B5D2}"/>
              </a:ext>
            </a:extLst>
          </p:cNvPr>
          <p:cNvSpPr>
            <a:spLocks noGrp="1"/>
          </p:cNvSpPr>
          <p:nvPr/>
        </p:nvSpPr>
        <p:spPr>
          <a:xfrm>
            <a:off x="2981325" y="46482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7" name="dec-4">
            <a:extLst>
              <a:ext uri="{FF2B5EF4-FFF2-40B4-BE49-F238E27FC236}">
                <a16:creationId xmlns:a16="http://schemas.microsoft.com/office/drawing/2014/main" id="{D41B5A8E-AE73-4E86-AD5C-5DEED4683CF6}"/>
              </a:ext>
            </a:extLst>
          </p:cNvPr>
          <p:cNvSpPr>
            <a:spLocks noGrp="1"/>
          </p:cNvSpPr>
          <p:nvPr/>
        </p:nvSpPr>
        <p:spPr>
          <a:xfrm>
            <a:off x="6991350" y="2876550"/>
            <a:ext cx="1752600" cy="457200"/>
          </a:xfrm>
          <a:prstGeom prst="rect">
            <a:avLst/>
          </a:prstGeom>
          <a:solidFill>
            <a:srgbClr val="182434"/>
          </a:solidFill>
          <a:ln w="19050">
            <a:solidFill>
              <a:srgbClr val="70B7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dec-4-label">
            <a:extLst>
              <a:ext uri="{FF2B5EF4-FFF2-40B4-BE49-F238E27FC236}">
                <a16:creationId xmlns:a16="http://schemas.microsoft.com/office/drawing/2014/main" id="{E3CF484B-414D-4987-95AA-D1764F66A16C}"/>
              </a:ext>
            </a:extLst>
          </p:cNvPr>
          <p:cNvSpPr>
            <a:spLocks noGrp="1"/>
          </p:cNvSpPr>
          <p:nvPr/>
        </p:nvSpPr>
        <p:spPr>
          <a:xfrm>
            <a:off x="7105650" y="29718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D4  coarse recovery</a:t>
            </a:r>
          </a:p>
        </p:txBody>
      </p:sp>
      <p:sp>
        <p:nvSpPr>
          <p:cNvPr id="29" name="dec-3">
            <a:extLst>
              <a:ext uri="{FF2B5EF4-FFF2-40B4-BE49-F238E27FC236}">
                <a16:creationId xmlns:a16="http://schemas.microsoft.com/office/drawing/2014/main" id="{D45F6FD1-39A9-4179-B70B-8986B54C7320}"/>
              </a:ext>
            </a:extLst>
          </p:cNvPr>
          <p:cNvSpPr>
            <a:spLocks noGrp="1"/>
          </p:cNvSpPr>
          <p:nvPr/>
        </p:nvSpPr>
        <p:spPr>
          <a:xfrm>
            <a:off x="6762750" y="3524250"/>
            <a:ext cx="1752600" cy="457200"/>
          </a:xfrm>
          <a:prstGeom prst="rect">
            <a:avLst/>
          </a:prstGeom>
          <a:solidFill>
            <a:srgbClr val="182434"/>
          </a:solidFill>
          <a:ln w="19050">
            <a:solidFill>
              <a:srgbClr val="70B7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dec-3-label">
            <a:extLst>
              <a:ext uri="{FF2B5EF4-FFF2-40B4-BE49-F238E27FC236}">
                <a16:creationId xmlns:a16="http://schemas.microsoft.com/office/drawing/2014/main" id="{447C6DC1-4FB0-446D-8D48-0BCA69383960}"/>
              </a:ext>
            </a:extLst>
          </p:cNvPr>
          <p:cNvSpPr>
            <a:spLocks noGrp="1"/>
          </p:cNvSpPr>
          <p:nvPr/>
        </p:nvSpPr>
        <p:spPr>
          <a:xfrm>
            <a:off x="6877050" y="36195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D3  feature fusion</a:t>
            </a:r>
          </a:p>
        </p:txBody>
      </p:sp>
      <p:sp>
        <p:nvSpPr>
          <p:cNvPr id="31" name="dec-2">
            <a:extLst>
              <a:ext uri="{FF2B5EF4-FFF2-40B4-BE49-F238E27FC236}">
                <a16:creationId xmlns:a16="http://schemas.microsoft.com/office/drawing/2014/main" id="{3B7F4A66-2FD8-40BD-925D-96AF78264527}"/>
              </a:ext>
            </a:extLst>
          </p:cNvPr>
          <p:cNvSpPr>
            <a:spLocks noGrp="1"/>
          </p:cNvSpPr>
          <p:nvPr/>
        </p:nvSpPr>
        <p:spPr>
          <a:xfrm>
            <a:off x="6534150" y="4171950"/>
            <a:ext cx="1752600" cy="457200"/>
          </a:xfrm>
          <a:prstGeom prst="rect">
            <a:avLst/>
          </a:prstGeom>
          <a:solidFill>
            <a:srgbClr val="182434"/>
          </a:solidFill>
          <a:ln w="19050">
            <a:solidFill>
              <a:srgbClr val="70B7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dec-2-label">
            <a:extLst>
              <a:ext uri="{FF2B5EF4-FFF2-40B4-BE49-F238E27FC236}">
                <a16:creationId xmlns:a16="http://schemas.microsoft.com/office/drawing/2014/main" id="{0DB1BDAB-207B-4705-BB2C-813E65FC65D3}"/>
              </a:ext>
            </a:extLst>
          </p:cNvPr>
          <p:cNvSpPr>
            <a:spLocks noGrp="1"/>
          </p:cNvSpPr>
          <p:nvPr/>
        </p:nvSpPr>
        <p:spPr>
          <a:xfrm>
            <a:off x="6648450" y="42672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D2  boundary detail</a:t>
            </a:r>
          </a:p>
        </p:txBody>
      </p:sp>
      <p:sp>
        <p:nvSpPr>
          <p:cNvPr id="33" name="dec-1">
            <a:extLst>
              <a:ext uri="{FF2B5EF4-FFF2-40B4-BE49-F238E27FC236}">
                <a16:creationId xmlns:a16="http://schemas.microsoft.com/office/drawing/2014/main" id="{16DDFC6E-5BB7-48D9-A0EB-39E5AB484B0D}"/>
              </a:ext>
            </a:extLst>
          </p:cNvPr>
          <p:cNvSpPr>
            <a:spLocks noGrp="1"/>
          </p:cNvSpPr>
          <p:nvPr/>
        </p:nvSpPr>
        <p:spPr>
          <a:xfrm>
            <a:off x="6305550" y="4819650"/>
            <a:ext cx="1752600" cy="457200"/>
          </a:xfrm>
          <a:prstGeom prst="rect">
            <a:avLst/>
          </a:prstGeom>
          <a:solidFill>
            <a:srgbClr val="182434"/>
          </a:solidFill>
          <a:ln w="19050">
            <a:solidFill>
              <a:srgbClr val="70B7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dec-1-label">
            <a:extLst>
              <a:ext uri="{FF2B5EF4-FFF2-40B4-BE49-F238E27FC236}">
                <a16:creationId xmlns:a16="http://schemas.microsoft.com/office/drawing/2014/main" id="{FEBFBC4C-043D-483A-842B-5EC52912967C}"/>
              </a:ext>
            </a:extLst>
          </p:cNvPr>
          <p:cNvSpPr>
            <a:spLocks noGrp="1"/>
          </p:cNvSpPr>
          <p:nvPr/>
        </p:nvSpPr>
        <p:spPr>
          <a:xfrm>
            <a:off x="6419850" y="49149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D1+ noise output</a:t>
            </a:r>
          </a:p>
        </p:txBody>
      </p:sp>
      <p:sp>
        <p:nvSpPr>
          <p:cNvPr id="35" name="dec-arrow-1-line">
            <a:extLst>
              <a:ext uri="{FF2B5EF4-FFF2-40B4-BE49-F238E27FC236}">
                <a16:creationId xmlns:a16="http://schemas.microsoft.com/office/drawing/2014/main" id="{9A07AF64-6F50-4A5B-AFD9-2AB7331419EF}"/>
              </a:ext>
            </a:extLst>
          </p:cNvPr>
          <p:cNvSpPr>
            <a:spLocks noGrp="1"/>
          </p:cNvSpPr>
          <p:nvPr/>
        </p:nvSpPr>
        <p:spPr>
          <a:xfrm>
            <a:off x="8591550" y="3333750"/>
            <a:ext cx="28575" cy="57150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dec-arrow-1-head">
            <a:extLst>
              <a:ext uri="{FF2B5EF4-FFF2-40B4-BE49-F238E27FC236}">
                <a16:creationId xmlns:a16="http://schemas.microsoft.com/office/drawing/2014/main" id="{1AFD89B4-4145-423E-810E-DC873670CC3A}"/>
              </a:ext>
            </a:extLst>
          </p:cNvPr>
          <p:cNvSpPr>
            <a:spLocks noGrp="1"/>
          </p:cNvSpPr>
          <p:nvPr/>
        </p:nvSpPr>
        <p:spPr>
          <a:xfrm>
            <a:off x="8524875" y="33528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7" name="dec-arrow-2-line">
            <a:extLst>
              <a:ext uri="{FF2B5EF4-FFF2-40B4-BE49-F238E27FC236}">
                <a16:creationId xmlns:a16="http://schemas.microsoft.com/office/drawing/2014/main" id="{27B0E4C7-DFFE-48F1-BC0A-01ADCC1A94B0}"/>
              </a:ext>
            </a:extLst>
          </p:cNvPr>
          <p:cNvSpPr>
            <a:spLocks noGrp="1"/>
          </p:cNvSpPr>
          <p:nvPr/>
        </p:nvSpPr>
        <p:spPr>
          <a:xfrm>
            <a:off x="8362950" y="3981450"/>
            <a:ext cx="28575" cy="57150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dec-arrow-2-head">
            <a:extLst>
              <a:ext uri="{FF2B5EF4-FFF2-40B4-BE49-F238E27FC236}">
                <a16:creationId xmlns:a16="http://schemas.microsoft.com/office/drawing/2014/main" id="{888C4128-BE40-49E7-AF25-5152CFE2F317}"/>
              </a:ext>
            </a:extLst>
          </p:cNvPr>
          <p:cNvSpPr>
            <a:spLocks noGrp="1"/>
          </p:cNvSpPr>
          <p:nvPr/>
        </p:nvSpPr>
        <p:spPr>
          <a:xfrm>
            <a:off x="8296275" y="40005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9" name="dec-arrow-3-line">
            <a:extLst>
              <a:ext uri="{FF2B5EF4-FFF2-40B4-BE49-F238E27FC236}">
                <a16:creationId xmlns:a16="http://schemas.microsoft.com/office/drawing/2014/main" id="{1DAFFE83-6BB5-4970-AE28-F9C072711355}"/>
              </a:ext>
            </a:extLst>
          </p:cNvPr>
          <p:cNvSpPr>
            <a:spLocks noGrp="1"/>
          </p:cNvSpPr>
          <p:nvPr/>
        </p:nvSpPr>
        <p:spPr>
          <a:xfrm>
            <a:off x="8134350" y="4629150"/>
            <a:ext cx="28575" cy="57150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dec-arrow-3-head">
            <a:extLst>
              <a:ext uri="{FF2B5EF4-FFF2-40B4-BE49-F238E27FC236}">
                <a16:creationId xmlns:a16="http://schemas.microsoft.com/office/drawing/2014/main" id="{0C7BF676-1F31-4116-AAE0-915AFF4CDC6B}"/>
              </a:ext>
            </a:extLst>
          </p:cNvPr>
          <p:cNvSpPr>
            <a:spLocks noGrp="1"/>
          </p:cNvSpPr>
          <p:nvPr/>
        </p:nvSpPr>
        <p:spPr>
          <a:xfrm>
            <a:off x="8067675" y="46482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1" name="time-mlp">
            <a:extLst>
              <a:ext uri="{FF2B5EF4-FFF2-40B4-BE49-F238E27FC236}">
                <a16:creationId xmlns:a16="http://schemas.microsoft.com/office/drawing/2014/main" id="{57C27AD1-1E8A-4313-880E-9E66C3863350}"/>
              </a:ext>
            </a:extLst>
          </p:cNvPr>
          <p:cNvSpPr>
            <a:spLocks noGrp="1"/>
          </p:cNvSpPr>
          <p:nvPr/>
        </p:nvSpPr>
        <p:spPr>
          <a:xfrm>
            <a:off x="4572000" y="3105150"/>
            <a:ext cx="1352550" cy="1695450"/>
          </a:xfrm>
          <a:prstGeom prst="rect">
            <a:avLst/>
          </a:prstGeom>
          <a:solidFill>
            <a:srgbClr val="203044"/>
          </a:solidFill>
          <a:ln w="19050">
            <a:solidFill>
              <a:srgbClr val="D982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ime-mlp-label">
            <a:extLst>
              <a:ext uri="{FF2B5EF4-FFF2-40B4-BE49-F238E27FC236}">
                <a16:creationId xmlns:a16="http://schemas.microsoft.com/office/drawing/2014/main" id="{FE7E34CB-8142-43CC-B54F-9C95370D89DF}"/>
              </a:ext>
            </a:extLst>
          </p:cNvPr>
          <p:cNvSpPr>
            <a:spLocks noGrp="1"/>
          </p:cNvSpPr>
          <p:nvPr/>
        </p:nvSpPr>
        <p:spPr>
          <a:xfrm>
            <a:off x="4705350" y="3333750"/>
            <a:ext cx="10858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sin / cos</a:t>
            </a:r>
          </a:p>
          <a:p>
            <a:pPr algn="ctr">
              <a:defRPr sz="150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embedding</a:t>
            </a:r>
          </a:p>
          <a:p>
            <a:endParaRPr sz="1500" b="1">
              <a:solidFill>
                <a:srgbClr val="F3F0E8"/>
              </a:solidFill>
              <a:latin typeface="Aptos"/>
              <a:ea typeface="Aptos"/>
              <a:cs typeface="Aptos"/>
            </a:endParaRPr>
          </a:p>
          <a:p>
            <a:pPr algn="ctr">
              <a:defRPr sz="150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MLP</a:t>
            </a:r>
          </a:p>
          <a:p>
            <a:pPr algn="ctr">
              <a:defRPr sz="150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128 -&gt; 512</a:t>
            </a:r>
          </a:p>
        </p:txBody>
      </p:sp>
      <p:sp>
        <p:nvSpPr>
          <p:cNvPr id="43" name="film-e0-film">
            <a:extLst>
              <a:ext uri="{FF2B5EF4-FFF2-40B4-BE49-F238E27FC236}">
                <a16:creationId xmlns:a16="http://schemas.microsoft.com/office/drawing/2014/main" id="{13CF1811-E00F-4C31-90BC-7180B42B8246}"/>
              </a:ext>
            </a:extLst>
          </p:cNvPr>
          <p:cNvSpPr>
            <a:spLocks noGrp="1"/>
          </p:cNvSpPr>
          <p:nvPr/>
        </p:nvSpPr>
        <p:spPr>
          <a:xfrm>
            <a:off x="3219450" y="2971800"/>
            <a:ext cx="266700" cy="2667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ilm-e0-film-label">
            <a:extLst>
              <a:ext uri="{FF2B5EF4-FFF2-40B4-BE49-F238E27FC236}">
                <a16:creationId xmlns:a16="http://schemas.microsoft.com/office/drawing/2014/main" id="{9DCD4C2F-E0D7-42EA-9720-CAA499F5F199}"/>
              </a:ext>
            </a:extLst>
          </p:cNvPr>
          <p:cNvSpPr>
            <a:spLocks noGrp="1"/>
          </p:cNvSpPr>
          <p:nvPr/>
        </p:nvSpPr>
        <p:spPr>
          <a:xfrm>
            <a:off x="3219450" y="2981325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45" name="film-e1-film">
            <a:extLst>
              <a:ext uri="{FF2B5EF4-FFF2-40B4-BE49-F238E27FC236}">
                <a16:creationId xmlns:a16="http://schemas.microsoft.com/office/drawing/2014/main" id="{61FEBEC2-41D4-440E-841B-FD50CAE49E54}"/>
              </a:ext>
            </a:extLst>
          </p:cNvPr>
          <p:cNvSpPr>
            <a:spLocks noGrp="1"/>
          </p:cNvSpPr>
          <p:nvPr/>
        </p:nvSpPr>
        <p:spPr>
          <a:xfrm>
            <a:off x="3448050" y="3619500"/>
            <a:ext cx="266700" cy="2667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film-e1-film-label">
            <a:extLst>
              <a:ext uri="{FF2B5EF4-FFF2-40B4-BE49-F238E27FC236}">
                <a16:creationId xmlns:a16="http://schemas.microsoft.com/office/drawing/2014/main" id="{1BACDC82-D462-4905-9267-328683BACC25}"/>
              </a:ext>
            </a:extLst>
          </p:cNvPr>
          <p:cNvSpPr>
            <a:spLocks noGrp="1"/>
          </p:cNvSpPr>
          <p:nvPr/>
        </p:nvSpPr>
        <p:spPr>
          <a:xfrm>
            <a:off x="3448050" y="3629025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47" name="film-e2-film">
            <a:extLst>
              <a:ext uri="{FF2B5EF4-FFF2-40B4-BE49-F238E27FC236}">
                <a16:creationId xmlns:a16="http://schemas.microsoft.com/office/drawing/2014/main" id="{4FDCE59E-A8E7-4A7D-A175-9DD9F7643B46}"/>
              </a:ext>
            </a:extLst>
          </p:cNvPr>
          <p:cNvSpPr>
            <a:spLocks noGrp="1"/>
          </p:cNvSpPr>
          <p:nvPr/>
        </p:nvSpPr>
        <p:spPr>
          <a:xfrm>
            <a:off x="3676650" y="4267200"/>
            <a:ext cx="266700" cy="2667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film-e2-film-label">
            <a:extLst>
              <a:ext uri="{FF2B5EF4-FFF2-40B4-BE49-F238E27FC236}">
                <a16:creationId xmlns:a16="http://schemas.microsoft.com/office/drawing/2014/main" id="{7E4EB600-F5CA-4BC6-B245-60715A2D4FB2}"/>
              </a:ext>
            </a:extLst>
          </p:cNvPr>
          <p:cNvSpPr>
            <a:spLocks noGrp="1"/>
          </p:cNvSpPr>
          <p:nvPr/>
        </p:nvSpPr>
        <p:spPr>
          <a:xfrm>
            <a:off x="3676650" y="4276725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49" name="film-e3-film">
            <a:extLst>
              <a:ext uri="{FF2B5EF4-FFF2-40B4-BE49-F238E27FC236}">
                <a16:creationId xmlns:a16="http://schemas.microsoft.com/office/drawing/2014/main" id="{5AE530AF-B602-4C36-AD9E-DBABE2F211C3}"/>
              </a:ext>
            </a:extLst>
          </p:cNvPr>
          <p:cNvSpPr>
            <a:spLocks noGrp="1"/>
          </p:cNvSpPr>
          <p:nvPr/>
        </p:nvSpPr>
        <p:spPr>
          <a:xfrm>
            <a:off x="3905250" y="4914900"/>
            <a:ext cx="266700" cy="2667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film-e3-film-label">
            <a:extLst>
              <a:ext uri="{FF2B5EF4-FFF2-40B4-BE49-F238E27FC236}">
                <a16:creationId xmlns:a16="http://schemas.microsoft.com/office/drawing/2014/main" id="{2DD660CA-A949-40DB-BC09-2EB987D2E1EC}"/>
              </a:ext>
            </a:extLst>
          </p:cNvPr>
          <p:cNvSpPr>
            <a:spLocks noGrp="1"/>
          </p:cNvSpPr>
          <p:nvPr/>
        </p:nvSpPr>
        <p:spPr>
          <a:xfrm>
            <a:off x="3905250" y="4924425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51" name="film-d4-film">
            <a:extLst>
              <a:ext uri="{FF2B5EF4-FFF2-40B4-BE49-F238E27FC236}">
                <a16:creationId xmlns:a16="http://schemas.microsoft.com/office/drawing/2014/main" id="{9C5B9BCE-9A49-4324-A62C-2D36E8947FD1}"/>
              </a:ext>
            </a:extLst>
          </p:cNvPr>
          <p:cNvSpPr>
            <a:spLocks noGrp="1"/>
          </p:cNvSpPr>
          <p:nvPr/>
        </p:nvSpPr>
        <p:spPr>
          <a:xfrm>
            <a:off x="6515100" y="2971800"/>
            <a:ext cx="266700" cy="2667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film-d4-film-label">
            <a:extLst>
              <a:ext uri="{FF2B5EF4-FFF2-40B4-BE49-F238E27FC236}">
                <a16:creationId xmlns:a16="http://schemas.microsoft.com/office/drawing/2014/main" id="{20462EC2-9118-44E3-8F4B-081D4CD89EAE}"/>
              </a:ext>
            </a:extLst>
          </p:cNvPr>
          <p:cNvSpPr>
            <a:spLocks noGrp="1"/>
          </p:cNvSpPr>
          <p:nvPr/>
        </p:nvSpPr>
        <p:spPr>
          <a:xfrm>
            <a:off x="6515100" y="2981325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53" name="film-d3-film">
            <a:extLst>
              <a:ext uri="{FF2B5EF4-FFF2-40B4-BE49-F238E27FC236}">
                <a16:creationId xmlns:a16="http://schemas.microsoft.com/office/drawing/2014/main" id="{D17F3D53-F81F-4BD8-9B17-5905A7D88C11}"/>
              </a:ext>
            </a:extLst>
          </p:cNvPr>
          <p:cNvSpPr>
            <a:spLocks noGrp="1"/>
          </p:cNvSpPr>
          <p:nvPr/>
        </p:nvSpPr>
        <p:spPr>
          <a:xfrm>
            <a:off x="6286500" y="3619500"/>
            <a:ext cx="266700" cy="2667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film-d3-film-label">
            <a:extLst>
              <a:ext uri="{FF2B5EF4-FFF2-40B4-BE49-F238E27FC236}">
                <a16:creationId xmlns:a16="http://schemas.microsoft.com/office/drawing/2014/main" id="{891F5084-5CB9-4BCD-84AB-2DDB9BF01964}"/>
              </a:ext>
            </a:extLst>
          </p:cNvPr>
          <p:cNvSpPr>
            <a:spLocks noGrp="1"/>
          </p:cNvSpPr>
          <p:nvPr/>
        </p:nvSpPr>
        <p:spPr>
          <a:xfrm>
            <a:off x="6286500" y="3629025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55" name="film-d2-film">
            <a:extLst>
              <a:ext uri="{FF2B5EF4-FFF2-40B4-BE49-F238E27FC236}">
                <a16:creationId xmlns:a16="http://schemas.microsoft.com/office/drawing/2014/main" id="{8330CCB0-F759-4459-A75B-2A715239A055}"/>
              </a:ext>
            </a:extLst>
          </p:cNvPr>
          <p:cNvSpPr>
            <a:spLocks noGrp="1"/>
          </p:cNvSpPr>
          <p:nvPr/>
        </p:nvSpPr>
        <p:spPr>
          <a:xfrm>
            <a:off x="6057900" y="4267200"/>
            <a:ext cx="266700" cy="2667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film-d2-film-label">
            <a:extLst>
              <a:ext uri="{FF2B5EF4-FFF2-40B4-BE49-F238E27FC236}">
                <a16:creationId xmlns:a16="http://schemas.microsoft.com/office/drawing/2014/main" id="{5091B39B-0E2A-45B4-9213-2D09E647DB89}"/>
              </a:ext>
            </a:extLst>
          </p:cNvPr>
          <p:cNvSpPr>
            <a:spLocks noGrp="1"/>
          </p:cNvSpPr>
          <p:nvPr/>
        </p:nvSpPr>
        <p:spPr>
          <a:xfrm>
            <a:off x="6057900" y="4276725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57" name="film-d1-film">
            <a:extLst>
              <a:ext uri="{FF2B5EF4-FFF2-40B4-BE49-F238E27FC236}">
                <a16:creationId xmlns:a16="http://schemas.microsoft.com/office/drawing/2014/main" id="{5AF69A9C-A879-4AD2-AC1A-2629AB96D619}"/>
              </a:ext>
            </a:extLst>
          </p:cNvPr>
          <p:cNvSpPr>
            <a:spLocks noGrp="1"/>
          </p:cNvSpPr>
          <p:nvPr/>
        </p:nvSpPr>
        <p:spPr>
          <a:xfrm>
            <a:off x="5829300" y="4914900"/>
            <a:ext cx="266700" cy="2667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ilm-d1-film-label">
            <a:extLst>
              <a:ext uri="{FF2B5EF4-FFF2-40B4-BE49-F238E27FC236}">
                <a16:creationId xmlns:a16="http://schemas.microsoft.com/office/drawing/2014/main" id="{9CFB6875-70A7-49F8-9939-AE1B492A5E30}"/>
              </a:ext>
            </a:extLst>
          </p:cNvPr>
          <p:cNvSpPr>
            <a:spLocks noGrp="1"/>
          </p:cNvSpPr>
          <p:nvPr/>
        </p:nvSpPr>
        <p:spPr>
          <a:xfrm>
            <a:off x="5829300" y="4924425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59" name="time-to-dec-line">
            <a:extLst>
              <a:ext uri="{FF2B5EF4-FFF2-40B4-BE49-F238E27FC236}">
                <a16:creationId xmlns:a16="http://schemas.microsoft.com/office/drawing/2014/main" id="{46E1517D-2B73-4CAE-8030-CC52560E5FC8}"/>
              </a:ext>
            </a:extLst>
          </p:cNvPr>
          <p:cNvSpPr>
            <a:spLocks noGrp="1"/>
          </p:cNvSpPr>
          <p:nvPr/>
        </p:nvSpPr>
        <p:spPr>
          <a:xfrm>
            <a:off x="5924550" y="3943350"/>
            <a:ext cx="114300" cy="28575"/>
          </a:xfrm>
          <a:prstGeom prst="rect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ime-to-dec-head">
            <a:extLst>
              <a:ext uri="{FF2B5EF4-FFF2-40B4-BE49-F238E27FC236}">
                <a16:creationId xmlns:a16="http://schemas.microsoft.com/office/drawing/2014/main" id="{089DD224-ADF4-464C-8BC7-7C4619F64804}"/>
              </a:ext>
            </a:extLst>
          </p:cNvPr>
          <p:cNvSpPr>
            <a:spLocks noGrp="1"/>
          </p:cNvSpPr>
          <p:nvPr/>
        </p:nvSpPr>
        <p:spPr>
          <a:xfrm>
            <a:off x="6019800" y="380047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D9827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827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1" name="enc-to-time-line">
            <a:extLst>
              <a:ext uri="{FF2B5EF4-FFF2-40B4-BE49-F238E27FC236}">
                <a16:creationId xmlns:a16="http://schemas.microsoft.com/office/drawing/2014/main" id="{4221A06F-0F6A-40F8-8F4C-E6ADD51CFE97}"/>
              </a:ext>
            </a:extLst>
          </p:cNvPr>
          <p:cNvSpPr>
            <a:spLocks noGrp="1"/>
          </p:cNvSpPr>
          <p:nvPr/>
        </p:nvSpPr>
        <p:spPr>
          <a:xfrm>
            <a:off x="4210050" y="3943350"/>
            <a:ext cx="190500" cy="28575"/>
          </a:xfrm>
          <a:prstGeom prst="rect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enc-to-time-head">
            <a:extLst>
              <a:ext uri="{FF2B5EF4-FFF2-40B4-BE49-F238E27FC236}">
                <a16:creationId xmlns:a16="http://schemas.microsoft.com/office/drawing/2014/main" id="{6697FC05-C4B2-462D-804A-C141A2F58AAD}"/>
              </a:ext>
            </a:extLst>
          </p:cNvPr>
          <p:cNvSpPr>
            <a:spLocks noGrp="1"/>
          </p:cNvSpPr>
          <p:nvPr/>
        </p:nvSpPr>
        <p:spPr>
          <a:xfrm>
            <a:off x="4381500" y="380047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D9827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827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3" name="preserved-callout">
            <a:extLst>
              <a:ext uri="{FF2B5EF4-FFF2-40B4-BE49-F238E27FC236}">
                <a16:creationId xmlns:a16="http://schemas.microsoft.com/office/drawing/2014/main" id="{97CF6C68-8A99-4E53-B12D-DE60109A5488}"/>
              </a:ext>
            </a:extLst>
          </p:cNvPr>
          <p:cNvSpPr>
            <a:spLocks noGrp="1"/>
          </p:cNvSpPr>
          <p:nvPr/>
        </p:nvSpPr>
        <p:spPr>
          <a:xfrm>
            <a:off x="9372600" y="2819400"/>
            <a:ext cx="2190750" cy="2476500"/>
          </a:xfrm>
          <a:prstGeom prst="rect">
            <a:avLst/>
          </a:prstGeom>
          <a:solidFill>
            <a:srgbClr val="182434"/>
          </a:solidFill>
          <a:ln w="19050">
            <a:solidFill>
              <a:srgbClr val="83C6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5824D53-5C7D-4381-ADC2-4FE423B63279}"/>
              </a:ext>
            </a:extLst>
          </p:cNvPr>
          <p:cNvSpPr>
            <a:spLocks noGrp="1"/>
          </p:cNvSpPr>
          <p:nvPr/>
        </p:nvSpPr>
        <p:spPr>
          <a:xfrm>
            <a:off x="9601200" y="30480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PRESERVED BY DESIGN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6699CE2-B933-4B46-B2A2-9C3992DE341A}"/>
              </a:ext>
            </a:extLst>
          </p:cNvPr>
          <p:cNvSpPr>
            <a:spLocks noGrp="1"/>
          </p:cNvSpPr>
          <p:nvPr/>
        </p:nvSpPr>
        <p:spPr>
          <a:xfrm>
            <a:off x="9601200" y="3467100"/>
            <a:ext cx="1714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EfficientNet-B7</a:t>
            </a:r>
          </a:p>
          <a:p>
            <a:pPr algn="l">
              <a:defRPr sz="14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encoder stays intact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42066BC-9CF9-41BD-A03A-7DE5D137604B}"/>
              </a:ext>
            </a:extLst>
          </p:cNvPr>
          <p:cNvSpPr>
            <a:spLocks noGrp="1"/>
          </p:cNvSpPr>
          <p:nvPr/>
        </p:nvSpPr>
        <p:spPr>
          <a:xfrm>
            <a:off x="9601200" y="4267200"/>
            <a:ext cx="1714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The new conditioning wraps its feature maps. It does not replace the downstream backbone.</a:t>
            </a:r>
          </a:p>
        </p:txBody>
      </p:sp>
    </p:spTree>
    <p:extLst>
      <p:ext uri="{BB962C8B-B14F-4D97-AF65-F5344CB8AC3E}">
        <p14:creationId xmlns:p14="http://schemas.microsoft.com/office/powerpoint/2010/main" val="94218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ackground">
            <a:extLst>
              <a:ext uri="{FF2B5EF4-FFF2-40B4-BE49-F238E27FC236}">
                <a16:creationId xmlns:a16="http://schemas.microsoft.com/office/drawing/2014/main" id="{BA66FA06-16F4-4FD5-9D93-0E24F32080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left-accent">
            <a:extLst>
              <a:ext uri="{FF2B5EF4-FFF2-40B4-BE49-F238E27FC236}">
                <a16:creationId xmlns:a16="http://schemas.microsoft.com/office/drawing/2014/main" id="{416B4CA7-DACF-4EE5-86F0-6CC96E676C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71BFDD2A-C139-4451-9F92-300D03EEA7D8}"/>
              </a:ext>
            </a:extLst>
          </p:cNvPr>
          <p:cNvSpPr>
            <a:spLocks noGrp="1"/>
          </p:cNvSpPr>
          <p:nvPr/>
        </p:nvSpPr>
        <p:spPr>
          <a:xfrm>
            <a:off x="438150" y="6419850"/>
            <a:ext cx="113157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source">
            <a:extLst>
              <a:ext uri="{FF2B5EF4-FFF2-40B4-BE49-F238E27FC236}">
                <a16:creationId xmlns:a16="http://schemas.microsoft.com/office/drawing/2014/main" id="{3EDC7AA3-9972-4A47-8485-2D1703F42BB5}"/>
              </a:ext>
            </a:extLst>
          </p:cNvPr>
          <p:cNvSpPr>
            <a:spLocks noGrp="1"/>
          </p:cNvSpPr>
          <p:nvPr/>
        </p:nvSpPr>
        <p:spPr>
          <a:xfrm>
            <a:off x="457200" y="6553200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FTW / NICFI PRETRAINING</a:t>
            </a:r>
          </a:p>
        </p:txBody>
      </p:sp>
      <p:sp>
        <p:nvSpPr>
          <p:cNvPr id="5" name="footer-page">
            <a:extLst>
              <a:ext uri="{FF2B5EF4-FFF2-40B4-BE49-F238E27FC236}">
                <a16:creationId xmlns:a16="http://schemas.microsoft.com/office/drawing/2014/main" id="{6ACFBED0-2605-4DD9-98A6-E4AE887A0C6A}"/>
              </a:ext>
            </a:extLst>
          </p:cNvPr>
          <p:cNvSpPr>
            <a:spLocks noGrp="1"/>
          </p:cNvSpPr>
          <p:nvPr/>
        </p:nvSpPr>
        <p:spPr>
          <a:xfrm>
            <a:off x="9906000" y="655320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OBJECTIVE  |  04</a:t>
            </a:r>
          </a:p>
        </p:txBody>
      </p:sp>
      <p:sp>
        <p:nvSpPr>
          <p:cNvPr id="6" name="kicker-04-marker">
            <a:extLst>
              <a:ext uri="{FF2B5EF4-FFF2-40B4-BE49-F238E27FC236}">
                <a16:creationId xmlns:a16="http://schemas.microsoft.com/office/drawing/2014/main" id="{40612811-78B0-4747-A979-5CA70C0BCFDB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95250" cy="95250"/>
          </a:xfrm>
          <a:prstGeom prst="ellipse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icker-04-label">
            <a:extLst>
              <a:ext uri="{FF2B5EF4-FFF2-40B4-BE49-F238E27FC236}">
                <a16:creationId xmlns:a16="http://schemas.microsoft.com/office/drawing/2014/main" id="{A276F79B-623C-4B58-964A-EE6B6778E660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E4B76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4B76A"/>
                </a:solidFill>
                <a:latin typeface="Aptos Mono"/>
                <a:ea typeface="Aptos Mono"/>
                <a:cs typeface="Aptos Mono"/>
              </a:rPr>
              <a:t>DENOISING OBJECTIVE</a:t>
            </a:r>
          </a:p>
        </p:txBody>
      </p:sp>
      <p:sp>
        <p:nvSpPr>
          <p:cNvPr id="8" name="claim-title">
            <a:extLst>
              <a:ext uri="{FF2B5EF4-FFF2-40B4-BE49-F238E27FC236}">
                <a16:creationId xmlns:a16="http://schemas.microsoft.com/office/drawing/2014/main" id="{BA199C9B-D76F-4463-9A7C-55A2E69796F6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Three objective changes make the denoising task</a:t>
            </a:r>
          </a:p>
          <a:p>
            <a:pPr algn="l">
              <a:defRPr sz="322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better behaved.</a:t>
            </a:r>
          </a:p>
        </p:txBody>
      </p:sp>
      <p:sp>
        <p:nvSpPr>
          <p:cNvPr id="9" name="support-note">
            <a:extLst>
              <a:ext uri="{FF2B5EF4-FFF2-40B4-BE49-F238E27FC236}">
                <a16:creationId xmlns:a16="http://schemas.microsoft.com/office/drawing/2014/main" id="{3D7F7612-1D5F-47EB-BCAE-C6EA1623A063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The upgraded objective gives the model a symmetric input range, a standard cosine corruption path, and less domination by easy high-SNR examples.</a:t>
            </a:r>
          </a:p>
        </p:txBody>
      </p:sp>
      <p:sp>
        <p:nvSpPr>
          <p:cNvPr id="10" name="objective-1">
            <a:extLst>
              <a:ext uri="{FF2B5EF4-FFF2-40B4-BE49-F238E27FC236}">
                <a16:creationId xmlns:a16="http://schemas.microsoft.com/office/drawing/2014/main" id="{B1C9C674-4D19-4B9C-A1FC-7ECCC7990C5B}"/>
              </a:ext>
            </a:extLst>
          </p:cNvPr>
          <p:cNvSpPr>
            <a:spLocks noGrp="1"/>
          </p:cNvSpPr>
          <p:nvPr/>
        </p:nvSpPr>
        <p:spPr>
          <a:xfrm>
            <a:off x="514350" y="2628900"/>
            <a:ext cx="3314700" cy="302895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bjective-1-accent">
            <a:extLst>
              <a:ext uri="{FF2B5EF4-FFF2-40B4-BE49-F238E27FC236}">
                <a16:creationId xmlns:a16="http://schemas.microsoft.com/office/drawing/2014/main" id="{9F9B7EED-2BAD-4680-9D9A-5EDEE68760EB}"/>
              </a:ext>
            </a:extLst>
          </p:cNvPr>
          <p:cNvSpPr>
            <a:spLocks noGrp="1"/>
          </p:cNvSpPr>
          <p:nvPr/>
        </p:nvSpPr>
        <p:spPr>
          <a:xfrm>
            <a:off x="514350" y="2628900"/>
            <a:ext cx="3314700" cy="66675"/>
          </a:xfrm>
          <a:prstGeom prst="rect">
            <a:avLst/>
          </a:prstGeom>
          <a:solidFill>
            <a:srgbClr val="70B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F6C3E5-01ED-4F7C-A915-46286A4CC7F8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3CB872-A6AB-4623-9844-03216B624BDE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2800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Centered</a:t>
            </a:r>
          </a:p>
          <a:p>
            <a:pPr algn="l">
              <a:def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inputs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5978C6-01E2-46B6-BF1C-3A5B1E43B4A5}"/>
              </a:ext>
            </a:extLst>
          </p:cNvPr>
          <p:cNvSpPr>
            <a:spLocks noGrp="1"/>
          </p:cNvSpPr>
          <p:nvPr/>
        </p:nvSpPr>
        <p:spPr>
          <a:xfrm>
            <a:off x="723900" y="41148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9827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98278"/>
                </a:solidFill>
                <a:latin typeface="Aptos Mono"/>
                <a:ea typeface="Aptos Mono"/>
                <a:cs typeface="Aptos Mono"/>
              </a:rPr>
              <a:t>BEFORE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200C7F-2AF7-4316-86B7-D994426F9BD9}"/>
              </a:ext>
            </a:extLst>
          </p:cNvPr>
          <p:cNvSpPr>
            <a:spLocks noGrp="1"/>
          </p:cNvSpPr>
          <p:nvPr/>
        </p:nvSpPr>
        <p:spPr>
          <a:xfrm>
            <a:off x="1581150" y="407670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[0, 1]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C27957-62CD-40E8-BF1E-5CC52CA30510}"/>
              </a:ext>
            </a:extLst>
          </p:cNvPr>
          <p:cNvSpPr>
            <a:spLocks noGrp="1"/>
          </p:cNvSpPr>
          <p:nvPr/>
        </p:nvSpPr>
        <p:spPr>
          <a:xfrm>
            <a:off x="723900" y="451485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NOW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6E6E26-5219-423F-974F-46B88806CAF2}"/>
              </a:ext>
            </a:extLst>
          </p:cNvPr>
          <p:cNvSpPr>
            <a:spLocks noGrp="1"/>
          </p:cNvSpPr>
          <p:nvPr/>
        </p:nvSpPr>
        <p:spPr>
          <a:xfrm>
            <a:off x="1581150" y="447675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0B7D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0B7D6"/>
                </a:solidFill>
                <a:latin typeface="Aptos"/>
                <a:ea typeface="Aptos"/>
                <a:cs typeface="Aptos"/>
              </a:rPr>
              <a:t>[-1, 1]</a:t>
            </a:r>
          </a:p>
        </p:txBody>
      </p:sp>
      <p:sp>
        <p:nvSpPr>
          <p:cNvPr id="18" name="objective-1-rule">
            <a:extLst>
              <a:ext uri="{FF2B5EF4-FFF2-40B4-BE49-F238E27FC236}">
                <a16:creationId xmlns:a16="http://schemas.microsoft.com/office/drawing/2014/main" id="{16CD6B62-0A05-454F-A400-4B9CB8C7970C}"/>
              </a:ext>
            </a:extLst>
          </p:cNvPr>
          <p:cNvSpPr>
            <a:spLocks noGrp="1"/>
          </p:cNvSpPr>
          <p:nvPr/>
        </p:nvSpPr>
        <p:spPr>
          <a:xfrm>
            <a:off x="723900" y="4876800"/>
            <a:ext cx="28575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5FE8FF-5A74-4CB3-917C-AE83CD8E9E79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Matches the zero-centered Gaussian noise process.</a:t>
            </a:r>
          </a:p>
        </p:txBody>
      </p:sp>
      <p:sp>
        <p:nvSpPr>
          <p:cNvPr id="20" name="objective-2">
            <a:extLst>
              <a:ext uri="{FF2B5EF4-FFF2-40B4-BE49-F238E27FC236}">
                <a16:creationId xmlns:a16="http://schemas.microsoft.com/office/drawing/2014/main" id="{76FED37F-7963-4496-A985-2650AC745AFB}"/>
              </a:ext>
            </a:extLst>
          </p:cNvPr>
          <p:cNvSpPr>
            <a:spLocks noGrp="1"/>
          </p:cNvSpPr>
          <p:nvPr/>
        </p:nvSpPr>
        <p:spPr>
          <a:xfrm>
            <a:off x="4438650" y="2628900"/>
            <a:ext cx="3314700" cy="302895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bjective-2-accent">
            <a:extLst>
              <a:ext uri="{FF2B5EF4-FFF2-40B4-BE49-F238E27FC236}">
                <a16:creationId xmlns:a16="http://schemas.microsoft.com/office/drawing/2014/main" id="{FC724146-D7E2-455F-890C-010072F3B541}"/>
              </a:ext>
            </a:extLst>
          </p:cNvPr>
          <p:cNvSpPr>
            <a:spLocks noGrp="1"/>
          </p:cNvSpPr>
          <p:nvPr/>
        </p:nvSpPr>
        <p:spPr>
          <a:xfrm>
            <a:off x="4438650" y="2628900"/>
            <a:ext cx="3314700" cy="66675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A25ECD-59F4-434D-B9B5-D28C563DD65C}"/>
              </a:ext>
            </a:extLst>
          </p:cNvPr>
          <p:cNvSpPr>
            <a:spLocks noGrp="1"/>
          </p:cNvSpPr>
          <p:nvPr/>
        </p:nvSpPr>
        <p:spPr>
          <a:xfrm>
            <a:off x="4648200" y="29146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66B4F7-6E43-4198-BDE7-EF63AC3B92B7}"/>
              </a:ext>
            </a:extLst>
          </p:cNvPr>
          <p:cNvSpPr>
            <a:spLocks noGrp="1"/>
          </p:cNvSpPr>
          <p:nvPr/>
        </p:nvSpPr>
        <p:spPr>
          <a:xfrm>
            <a:off x="4648200" y="3238500"/>
            <a:ext cx="2800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Cosine noise</a:t>
            </a:r>
          </a:p>
          <a:p>
            <a:pPr algn="l">
              <a:def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schedule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2E9808-6B09-4330-87FD-9AD0E4E0129A}"/>
              </a:ext>
            </a:extLst>
          </p:cNvPr>
          <p:cNvSpPr>
            <a:spLocks noGrp="1"/>
          </p:cNvSpPr>
          <p:nvPr/>
        </p:nvSpPr>
        <p:spPr>
          <a:xfrm>
            <a:off x="4648200" y="41148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9827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98278"/>
                </a:solidFill>
                <a:latin typeface="Aptos Mono"/>
                <a:ea typeface="Aptos Mono"/>
                <a:cs typeface="Aptos Mono"/>
              </a:rPr>
              <a:t>BEFORE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15F44F-DA4A-46F3-B54F-B9C40C1D22EC}"/>
              </a:ext>
            </a:extLst>
          </p:cNvPr>
          <p:cNvSpPr>
            <a:spLocks noGrp="1"/>
          </p:cNvSpPr>
          <p:nvPr/>
        </p:nvSpPr>
        <p:spPr>
          <a:xfrm>
            <a:off x="5505450" y="407670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10,000 linear steps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1111ED-6F00-482A-99EA-E3912F2BBF8D}"/>
              </a:ext>
            </a:extLst>
          </p:cNvPr>
          <p:cNvSpPr>
            <a:spLocks noGrp="1"/>
          </p:cNvSpPr>
          <p:nvPr/>
        </p:nvSpPr>
        <p:spPr>
          <a:xfrm>
            <a:off x="4648200" y="451485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NOW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8FF537-5B49-44E2-BDEA-514975A1B3B0}"/>
              </a:ext>
            </a:extLst>
          </p:cNvPr>
          <p:cNvSpPr>
            <a:spLocks noGrp="1"/>
          </p:cNvSpPr>
          <p:nvPr/>
        </p:nvSpPr>
        <p:spPr>
          <a:xfrm>
            <a:off x="5505450" y="447675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83C6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3C69B"/>
                </a:solidFill>
                <a:latin typeface="Aptos"/>
                <a:ea typeface="Aptos"/>
                <a:cs typeface="Aptos"/>
              </a:rPr>
              <a:t>1,000 cosine steps</a:t>
            </a:r>
          </a:p>
        </p:txBody>
      </p:sp>
      <p:sp>
        <p:nvSpPr>
          <p:cNvPr id="28" name="objective-2-rule">
            <a:extLst>
              <a:ext uri="{FF2B5EF4-FFF2-40B4-BE49-F238E27FC236}">
                <a16:creationId xmlns:a16="http://schemas.microsoft.com/office/drawing/2014/main" id="{0FA10F37-F817-4AD6-AA8B-2D03D2E9B39F}"/>
              </a:ext>
            </a:extLst>
          </p:cNvPr>
          <p:cNvSpPr>
            <a:spLocks noGrp="1"/>
          </p:cNvSpPr>
          <p:nvPr/>
        </p:nvSpPr>
        <p:spPr>
          <a:xfrm>
            <a:off x="4648200" y="4876800"/>
            <a:ext cx="28575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271001-A096-4149-86D8-19DB74C77787}"/>
              </a:ext>
            </a:extLst>
          </p:cNvPr>
          <p:cNvSpPr>
            <a:spLocks noGrp="1"/>
          </p:cNvSpPr>
          <p:nvPr/>
        </p:nvSpPr>
        <p:spPr>
          <a:xfrm>
            <a:off x="4648200" y="504825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Uses the IDDPM-style cosine schedule with a stable endpoint.</a:t>
            </a:r>
          </a:p>
        </p:txBody>
      </p:sp>
      <p:sp>
        <p:nvSpPr>
          <p:cNvPr id="30" name="objective-3">
            <a:extLst>
              <a:ext uri="{FF2B5EF4-FFF2-40B4-BE49-F238E27FC236}">
                <a16:creationId xmlns:a16="http://schemas.microsoft.com/office/drawing/2014/main" id="{F0FC3696-06FF-41C6-A392-EB700601D9B6}"/>
              </a:ext>
            </a:extLst>
          </p:cNvPr>
          <p:cNvSpPr>
            <a:spLocks noGrp="1"/>
          </p:cNvSpPr>
          <p:nvPr/>
        </p:nvSpPr>
        <p:spPr>
          <a:xfrm>
            <a:off x="8362950" y="2628900"/>
            <a:ext cx="3314700" cy="302895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bjective-3-accent">
            <a:extLst>
              <a:ext uri="{FF2B5EF4-FFF2-40B4-BE49-F238E27FC236}">
                <a16:creationId xmlns:a16="http://schemas.microsoft.com/office/drawing/2014/main" id="{7936CF34-0B12-4364-B3A7-B3775E47B0B2}"/>
              </a:ext>
            </a:extLst>
          </p:cNvPr>
          <p:cNvSpPr>
            <a:spLocks noGrp="1"/>
          </p:cNvSpPr>
          <p:nvPr/>
        </p:nvSpPr>
        <p:spPr>
          <a:xfrm>
            <a:off x="8362950" y="2628900"/>
            <a:ext cx="3314700" cy="66675"/>
          </a:xfrm>
          <a:prstGeom prst="rect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2E0664-872E-4A9C-8B41-0EE4A7CDA941}"/>
              </a:ext>
            </a:extLst>
          </p:cNvPr>
          <p:cNvSpPr>
            <a:spLocks noGrp="1"/>
          </p:cNvSpPr>
          <p:nvPr/>
        </p:nvSpPr>
        <p:spPr>
          <a:xfrm>
            <a:off x="8572500" y="29146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E4B76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4B76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C4A9E-9B7F-4230-BC9C-620DAAF537AD}"/>
              </a:ext>
            </a:extLst>
          </p:cNvPr>
          <p:cNvSpPr>
            <a:spLocks noGrp="1"/>
          </p:cNvSpPr>
          <p:nvPr/>
        </p:nvSpPr>
        <p:spPr>
          <a:xfrm>
            <a:off x="8572500" y="3238500"/>
            <a:ext cx="2800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Min-SNR</a:t>
            </a:r>
          </a:p>
          <a:p>
            <a:pPr algn="l">
              <a:def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weighting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3656A4-B725-4310-9282-FD80B8EA7FDE}"/>
              </a:ext>
            </a:extLst>
          </p:cNvPr>
          <p:cNvSpPr>
            <a:spLocks noGrp="1"/>
          </p:cNvSpPr>
          <p:nvPr/>
        </p:nvSpPr>
        <p:spPr>
          <a:xfrm>
            <a:off x="8572500" y="41148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9827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98278"/>
                </a:solidFill>
                <a:latin typeface="Aptos Mono"/>
                <a:ea typeface="Aptos Mono"/>
                <a:cs typeface="Aptos Mono"/>
              </a:rPr>
              <a:t>BEFORE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047165-AF63-4F95-8F7B-4C782514A855}"/>
              </a:ext>
            </a:extLst>
          </p:cNvPr>
          <p:cNvSpPr>
            <a:spLocks noGrp="1"/>
          </p:cNvSpPr>
          <p:nvPr/>
        </p:nvSpPr>
        <p:spPr>
          <a:xfrm>
            <a:off x="9429750" y="407670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Uniform MSE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0A328F-F53F-4BAF-B54F-F87AD19F969B}"/>
              </a:ext>
            </a:extLst>
          </p:cNvPr>
          <p:cNvSpPr>
            <a:spLocks noGrp="1"/>
          </p:cNvSpPr>
          <p:nvPr/>
        </p:nvSpPr>
        <p:spPr>
          <a:xfrm>
            <a:off x="8572500" y="451485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NOW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80BA77-7C84-49BE-91CB-F1ED5D021A15}"/>
              </a:ext>
            </a:extLst>
          </p:cNvPr>
          <p:cNvSpPr>
            <a:spLocks noGrp="1"/>
          </p:cNvSpPr>
          <p:nvPr/>
        </p:nvSpPr>
        <p:spPr>
          <a:xfrm>
            <a:off x="9429750" y="447675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4B76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4B76A"/>
                </a:solidFill>
                <a:latin typeface="Aptos"/>
                <a:ea typeface="Aptos"/>
                <a:cs typeface="Aptos"/>
              </a:rPr>
              <a:t>gamma = 5.0</a:t>
            </a:r>
          </a:p>
        </p:txBody>
      </p:sp>
      <p:sp>
        <p:nvSpPr>
          <p:cNvPr id="38" name="objective-3-rule">
            <a:extLst>
              <a:ext uri="{FF2B5EF4-FFF2-40B4-BE49-F238E27FC236}">
                <a16:creationId xmlns:a16="http://schemas.microsoft.com/office/drawing/2014/main" id="{706EC7D4-F456-4C85-80F0-699581D67680}"/>
              </a:ext>
            </a:extLst>
          </p:cNvPr>
          <p:cNvSpPr>
            <a:spLocks noGrp="1"/>
          </p:cNvSpPr>
          <p:nvPr/>
        </p:nvSpPr>
        <p:spPr>
          <a:xfrm>
            <a:off x="8572500" y="4876800"/>
            <a:ext cx="28575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D0A6E4A-BA0A-49C6-A7BD-B519FB9DD587}"/>
              </a:ext>
            </a:extLst>
          </p:cNvPr>
          <p:cNvSpPr>
            <a:spLocks noGrp="1"/>
          </p:cNvSpPr>
          <p:nvPr/>
        </p:nvSpPr>
        <p:spPr>
          <a:xfrm>
            <a:off x="8572500" y="504825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Downweights very high-SNR examples while keeping hard steps visible.</a:t>
            </a:r>
          </a:p>
        </p:txBody>
      </p:sp>
    </p:spTree>
    <p:extLst>
      <p:ext uri="{BB962C8B-B14F-4D97-AF65-F5344CB8AC3E}">
        <p14:creationId xmlns:p14="http://schemas.microsoft.com/office/powerpoint/2010/main" val="1209469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>
            <a:extLst>
              <a:ext uri="{FF2B5EF4-FFF2-40B4-BE49-F238E27FC236}">
                <a16:creationId xmlns:a16="http://schemas.microsoft.com/office/drawing/2014/main" id="{6913EDCA-E207-437A-BA4F-8D3675567E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left-accent">
            <a:extLst>
              <a:ext uri="{FF2B5EF4-FFF2-40B4-BE49-F238E27FC236}">
                <a16:creationId xmlns:a16="http://schemas.microsoft.com/office/drawing/2014/main" id="{9E99D957-80A9-40C8-85A7-D701A79E12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7AD506FB-41A8-44B9-BD21-FE47ECE4248F}"/>
              </a:ext>
            </a:extLst>
          </p:cNvPr>
          <p:cNvSpPr>
            <a:spLocks noGrp="1"/>
          </p:cNvSpPr>
          <p:nvPr/>
        </p:nvSpPr>
        <p:spPr>
          <a:xfrm>
            <a:off x="438150" y="6419850"/>
            <a:ext cx="113157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source">
            <a:extLst>
              <a:ext uri="{FF2B5EF4-FFF2-40B4-BE49-F238E27FC236}">
                <a16:creationId xmlns:a16="http://schemas.microsoft.com/office/drawing/2014/main" id="{F97488D6-3F2E-425D-B1A6-39156AC8BDD4}"/>
              </a:ext>
            </a:extLst>
          </p:cNvPr>
          <p:cNvSpPr>
            <a:spLocks noGrp="1"/>
          </p:cNvSpPr>
          <p:nvPr/>
        </p:nvSpPr>
        <p:spPr>
          <a:xfrm>
            <a:off x="457200" y="6553200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FTW / NICFI PRETRAINING</a:t>
            </a:r>
          </a:p>
        </p:txBody>
      </p:sp>
      <p:sp>
        <p:nvSpPr>
          <p:cNvPr id="5" name="footer-page">
            <a:extLst>
              <a:ext uri="{FF2B5EF4-FFF2-40B4-BE49-F238E27FC236}">
                <a16:creationId xmlns:a16="http://schemas.microsoft.com/office/drawing/2014/main" id="{84E45DEB-2ADE-4042-A208-3CD2718FC8FC}"/>
              </a:ext>
            </a:extLst>
          </p:cNvPr>
          <p:cNvSpPr>
            <a:spLocks noGrp="1"/>
          </p:cNvSpPr>
          <p:nvPr/>
        </p:nvSpPr>
        <p:spPr>
          <a:xfrm>
            <a:off x="9906000" y="655320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TRANSFER  |  05</a:t>
            </a:r>
          </a:p>
        </p:txBody>
      </p:sp>
      <p:sp>
        <p:nvSpPr>
          <p:cNvPr id="6" name="kicker-05-marker">
            <a:extLst>
              <a:ext uri="{FF2B5EF4-FFF2-40B4-BE49-F238E27FC236}">
                <a16:creationId xmlns:a16="http://schemas.microsoft.com/office/drawing/2014/main" id="{49966372-0742-4D6A-B10A-5ADD9B60DC20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95250" cy="95250"/>
          </a:xfrm>
          <a:prstGeom prst="ellipse">
            <a:avLst/>
          </a:prstGeom>
          <a:solidFill>
            <a:srgbClr val="70B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icker-05-label">
            <a:extLst>
              <a:ext uri="{FF2B5EF4-FFF2-40B4-BE49-F238E27FC236}">
                <a16:creationId xmlns:a16="http://schemas.microsoft.com/office/drawing/2014/main" id="{83C27163-5F5A-4DEC-8978-75666BF66EF0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EMA AND DOWNSTREAM USE</a:t>
            </a:r>
          </a:p>
        </p:txBody>
      </p:sp>
      <p:sp>
        <p:nvSpPr>
          <p:cNvPr id="8" name="claim-title">
            <a:extLst>
              <a:ext uri="{FF2B5EF4-FFF2-40B4-BE49-F238E27FC236}">
                <a16:creationId xmlns:a16="http://schemas.microsoft.com/office/drawing/2014/main" id="{B797B6AC-CFC4-498C-8BA0-D1CB5A9BD0E4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EMA validation and strict encoder export make</a:t>
            </a:r>
          </a:p>
          <a:p>
            <a:pPr algn="l">
              <a:def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pretraining useful downstream.</a:t>
            </a:r>
          </a:p>
        </p:txBody>
      </p:sp>
      <p:sp>
        <p:nvSpPr>
          <p:cNvPr id="9" name="support-note">
            <a:extLst>
              <a:ext uri="{FF2B5EF4-FFF2-40B4-BE49-F238E27FC236}">
                <a16:creationId xmlns:a16="http://schemas.microsoft.com/office/drawing/2014/main" id="{EC20C1D0-ABC5-4021-944C-6B434EDFAB37}"/>
              </a:ext>
            </a:extLst>
          </p:cNvPr>
          <p:cNvSpPr>
            <a:spLocks noGrp="1"/>
          </p:cNvSpPr>
          <p:nvPr/>
        </p:nvSpPr>
        <p:spPr>
          <a:xfrm>
            <a:off x="514350" y="1733550"/>
            <a:ext cx="990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The run now produces a stable encoder artifact for field-boundary segmentation, not only a denoising checkpoint.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7FB435-0CAA-49EF-98E2-44968B9FA2D1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WEIGHT FLOW</a:t>
            </a:r>
          </a:p>
        </p:txBody>
      </p:sp>
      <p:sp>
        <p:nvSpPr>
          <p:cNvPr id="11" name="online-model">
            <a:extLst>
              <a:ext uri="{FF2B5EF4-FFF2-40B4-BE49-F238E27FC236}">
                <a16:creationId xmlns:a16="http://schemas.microsoft.com/office/drawing/2014/main" id="{EB2687FF-88B1-4C63-A9E8-099FB1DFD521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714500" cy="97155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nline-model-tag">
            <a:extLst>
              <a:ext uri="{FF2B5EF4-FFF2-40B4-BE49-F238E27FC236}">
                <a16:creationId xmlns:a16="http://schemas.microsoft.com/office/drawing/2014/main" id="{68A88621-52C4-4BF8-A074-93DBF8FE42DF}"/>
              </a:ext>
            </a:extLst>
          </p:cNvPr>
          <p:cNvSpPr>
            <a:spLocks noGrp="1"/>
          </p:cNvSpPr>
          <p:nvPr/>
        </p:nvSpPr>
        <p:spPr>
          <a:xfrm>
            <a:off x="800100" y="2971800"/>
            <a:ext cx="1447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OPTIMIZED EACH STEP</a:t>
            </a:r>
          </a:p>
        </p:txBody>
      </p:sp>
      <p:sp>
        <p:nvSpPr>
          <p:cNvPr id="13" name="online-model-label">
            <a:extLst>
              <a:ext uri="{FF2B5EF4-FFF2-40B4-BE49-F238E27FC236}">
                <a16:creationId xmlns:a16="http://schemas.microsoft.com/office/drawing/2014/main" id="{039DBC43-2098-4F19-B4F3-B6E14D185281}"/>
              </a:ext>
            </a:extLst>
          </p:cNvPr>
          <p:cNvSpPr>
            <a:spLocks noGrp="1"/>
          </p:cNvSpPr>
          <p:nvPr/>
        </p:nvSpPr>
        <p:spPr>
          <a:xfrm>
            <a:off x="800100" y="3171825"/>
            <a:ext cx="1447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Online denoiser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weights</a:t>
            </a:r>
          </a:p>
        </p:txBody>
      </p:sp>
      <p:sp>
        <p:nvSpPr>
          <p:cNvPr id="14" name="ema-arrow-1-line">
            <a:extLst>
              <a:ext uri="{FF2B5EF4-FFF2-40B4-BE49-F238E27FC236}">
                <a16:creationId xmlns:a16="http://schemas.microsoft.com/office/drawing/2014/main" id="{5703E1E8-257A-43C2-95A2-31A7B6A8BA21}"/>
              </a:ext>
            </a:extLst>
          </p:cNvPr>
          <p:cNvSpPr>
            <a:spLocks noGrp="1"/>
          </p:cNvSpPr>
          <p:nvPr/>
        </p:nvSpPr>
        <p:spPr>
          <a:xfrm>
            <a:off x="2400300" y="3352800"/>
            <a:ext cx="571500" cy="28575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ma-arrow-1-head">
            <a:extLst>
              <a:ext uri="{FF2B5EF4-FFF2-40B4-BE49-F238E27FC236}">
                <a16:creationId xmlns:a16="http://schemas.microsoft.com/office/drawing/2014/main" id="{32ED6070-CC1C-4360-8932-1603D9403F44}"/>
              </a:ext>
            </a:extLst>
          </p:cNvPr>
          <p:cNvSpPr>
            <a:spLocks noGrp="1"/>
          </p:cNvSpPr>
          <p:nvPr/>
        </p:nvSpPr>
        <p:spPr>
          <a:xfrm>
            <a:off x="2952750" y="320992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83C6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3C69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ema-model">
            <a:extLst>
              <a:ext uri="{FF2B5EF4-FFF2-40B4-BE49-F238E27FC236}">
                <a16:creationId xmlns:a16="http://schemas.microsoft.com/office/drawing/2014/main" id="{06DD89C8-AA44-4CE6-8B89-359801504A1A}"/>
              </a:ext>
            </a:extLst>
          </p:cNvPr>
          <p:cNvSpPr>
            <a:spLocks noGrp="1"/>
          </p:cNvSpPr>
          <p:nvPr/>
        </p:nvSpPr>
        <p:spPr>
          <a:xfrm>
            <a:off x="3143250" y="2876550"/>
            <a:ext cx="1714500" cy="971550"/>
          </a:xfrm>
          <a:prstGeom prst="rect">
            <a:avLst/>
          </a:prstGeom>
          <a:solidFill>
            <a:srgbClr val="20304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ma-model-tag">
            <a:extLst>
              <a:ext uri="{FF2B5EF4-FFF2-40B4-BE49-F238E27FC236}">
                <a16:creationId xmlns:a16="http://schemas.microsoft.com/office/drawing/2014/main" id="{C2B89A23-70DF-4AA0-BA11-A4F6A411DCF8}"/>
              </a:ext>
            </a:extLst>
          </p:cNvPr>
          <p:cNvSpPr>
            <a:spLocks noGrp="1"/>
          </p:cNvSpPr>
          <p:nvPr/>
        </p:nvSpPr>
        <p:spPr>
          <a:xfrm>
            <a:off x="3276600" y="2971800"/>
            <a:ext cx="1447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DECAY 0.9999</a:t>
            </a:r>
          </a:p>
        </p:txBody>
      </p:sp>
      <p:sp>
        <p:nvSpPr>
          <p:cNvPr id="18" name="ema-model-label">
            <a:extLst>
              <a:ext uri="{FF2B5EF4-FFF2-40B4-BE49-F238E27FC236}">
                <a16:creationId xmlns:a16="http://schemas.microsoft.com/office/drawing/2014/main" id="{66F30CF6-35A1-4F57-B9D2-BC164887E24C}"/>
              </a:ext>
            </a:extLst>
          </p:cNvPr>
          <p:cNvSpPr>
            <a:spLocks noGrp="1"/>
          </p:cNvSpPr>
          <p:nvPr/>
        </p:nvSpPr>
        <p:spPr>
          <a:xfrm>
            <a:off x="3276600" y="3171825"/>
            <a:ext cx="1447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EMA denoiser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weights</a:t>
            </a:r>
          </a:p>
        </p:txBody>
      </p:sp>
      <p:sp>
        <p:nvSpPr>
          <p:cNvPr id="19" name="ema-arrow-2-line">
            <a:extLst>
              <a:ext uri="{FF2B5EF4-FFF2-40B4-BE49-F238E27FC236}">
                <a16:creationId xmlns:a16="http://schemas.microsoft.com/office/drawing/2014/main" id="{F6CDCBD7-9A66-48C6-9E57-36F573FBAC7C}"/>
              </a:ext>
            </a:extLst>
          </p:cNvPr>
          <p:cNvSpPr>
            <a:spLocks noGrp="1"/>
          </p:cNvSpPr>
          <p:nvPr/>
        </p:nvSpPr>
        <p:spPr>
          <a:xfrm>
            <a:off x="4876800" y="3352800"/>
            <a:ext cx="571500" cy="28575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ma-arrow-2-head">
            <a:extLst>
              <a:ext uri="{FF2B5EF4-FFF2-40B4-BE49-F238E27FC236}">
                <a16:creationId xmlns:a16="http://schemas.microsoft.com/office/drawing/2014/main" id="{304CEAF6-D4EE-4AB4-96CC-94D228A53C4A}"/>
              </a:ext>
            </a:extLst>
          </p:cNvPr>
          <p:cNvSpPr>
            <a:spLocks noGrp="1"/>
          </p:cNvSpPr>
          <p:nvPr/>
        </p:nvSpPr>
        <p:spPr>
          <a:xfrm>
            <a:off x="5429250" y="320992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83C6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3C69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encoder-artifact">
            <a:extLst>
              <a:ext uri="{FF2B5EF4-FFF2-40B4-BE49-F238E27FC236}">
                <a16:creationId xmlns:a16="http://schemas.microsoft.com/office/drawing/2014/main" id="{C5A39996-C138-4D4B-B7C2-CD922BED6DE2}"/>
              </a:ext>
            </a:extLst>
          </p:cNvPr>
          <p:cNvSpPr>
            <a:spLocks noGrp="1"/>
          </p:cNvSpPr>
          <p:nvPr/>
        </p:nvSpPr>
        <p:spPr>
          <a:xfrm>
            <a:off x="5619750" y="2876550"/>
            <a:ext cx="1714500" cy="97155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encoder-artifact-tag">
            <a:extLst>
              <a:ext uri="{FF2B5EF4-FFF2-40B4-BE49-F238E27FC236}">
                <a16:creationId xmlns:a16="http://schemas.microsoft.com/office/drawing/2014/main" id="{1DB94D98-3820-4319-8664-6F4F15D89FB9}"/>
              </a:ext>
            </a:extLst>
          </p:cNvPr>
          <p:cNvSpPr>
            <a:spLocks noGrp="1"/>
          </p:cNvSpPr>
          <p:nvPr/>
        </p:nvSpPr>
        <p:spPr>
          <a:xfrm>
            <a:off x="5753100" y="2971800"/>
            <a:ext cx="1447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76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4B76A"/>
                </a:solidFill>
                <a:latin typeface="Aptos Mono"/>
                <a:ea typeface="Aptos Mono"/>
                <a:cs typeface="Aptos Mono"/>
              </a:rPr>
              <a:t>STRICT FORMAT</a:t>
            </a:r>
          </a:p>
        </p:txBody>
      </p:sp>
      <p:sp>
        <p:nvSpPr>
          <p:cNvPr id="23" name="encoder-artifact-label">
            <a:extLst>
              <a:ext uri="{FF2B5EF4-FFF2-40B4-BE49-F238E27FC236}">
                <a16:creationId xmlns:a16="http://schemas.microsoft.com/office/drawing/2014/main" id="{D163F607-BC3D-4B6F-BF58-CD9A0AC2258D}"/>
              </a:ext>
            </a:extLst>
          </p:cNvPr>
          <p:cNvSpPr>
            <a:spLocks noGrp="1"/>
          </p:cNvSpPr>
          <p:nvPr/>
        </p:nvSpPr>
        <p:spPr>
          <a:xfrm>
            <a:off x="5753100" y="3171825"/>
            <a:ext cx="1447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encoder_ema.pt</a:t>
            </a:r>
          </a:p>
        </p:txBody>
      </p:sp>
      <p:sp>
        <p:nvSpPr>
          <p:cNvPr id="24" name="ema-arrow-3-line">
            <a:extLst>
              <a:ext uri="{FF2B5EF4-FFF2-40B4-BE49-F238E27FC236}">
                <a16:creationId xmlns:a16="http://schemas.microsoft.com/office/drawing/2014/main" id="{B1A57224-A594-4538-89E4-62EB058AFC79}"/>
              </a:ext>
            </a:extLst>
          </p:cNvPr>
          <p:cNvSpPr>
            <a:spLocks noGrp="1"/>
          </p:cNvSpPr>
          <p:nvPr/>
        </p:nvSpPr>
        <p:spPr>
          <a:xfrm>
            <a:off x="7353300" y="3352800"/>
            <a:ext cx="571500" cy="28575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ema-arrow-3-head">
            <a:extLst>
              <a:ext uri="{FF2B5EF4-FFF2-40B4-BE49-F238E27FC236}">
                <a16:creationId xmlns:a16="http://schemas.microsoft.com/office/drawing/2014/main" id="{9ED115BC-E635-4795-8A6B-70E3E305941F}"/>
              </a:ext>
            </a:extLst>
          </p:cNvPr>
          <p:cNvSpPr>
            <a:spLocks noGrp="1"/>
          </p:cNvSpPr>
          <p:nvPr/>
        </p:nvSpPr>
        <p:spPr>
          <a:xfrm>
            <a:off x="7905750" y="320992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83C6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3C69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downstream-task">
            <a:extLst>
              <a:ext uri="{FF2B5EF4-FFF2-40B4-BE49-F238E27FC236}">
                <a16:creationId xmlns:a16="http://schemas.microsoft.com/office/drawing/2014/main" id="{20052E96-F588-431A-AD1A-1D93168CFD26}"/>
              </a:ext>
            </a:extLst>
          </p:cNvPr>
          <p:cNvSpPr>
            <a:spLocks noGrp="1"/>
          </p:cNvSpPr>
          <p:nvPr/>
        </p:nvSpPr>
        <p:spPr>
          <a:xfrm>
            <a:off x="8096250" y="2876550"/>
            <a:ext cx="1943100" cy="97155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downstream-task-tag">
            <a:extLst>
              <a:ext uri="{FF2B5EF4-FFF2-40B4-BE49-F238E27FC236}">
                <a16:creationId xmlns:a16="http://schemas.microsoft.com/office/drawing/2014/main" id="{666FB3DF-3BAF-4E17-B484-00FE58F4592A}"/>
              </a:ext>
            </a:extLst>
          </p:cNvPr>
          <p:cNvSpPr>
            <a:spLocks noGrp="1"/>
          </p:cNvSpPr>
          <p:nvPr/>
        </p:nvSpPr>
        <p:spPr>
          <a:xfrm>
            <a:off x="8229600" y="297180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EFFICIENTNET-B7</a:t>
            </a:r>
          </a:p>
        </p:txBody>
      </p:sp>
      <p:sp>
        <p:nvSpPr>
          <p:cNvPr id="28" name="downstream-task-label">
            <a:extLst>
              <a:ext uri="{FF2B5EF4-FFF2-40B4-BE49-F238E27FC236}">
                <a16:creationId xmlns:a16="http://schemas.microsoft.com/office/drawing/2014/main" id="{6CDE8B48-8460-471F-A551-A2CC12775F24}"/>
              </a:ext>
            </a:extLst>
          </p:cNvPr>
          <p:cNvSpPr>
            <a:spLocks noGrp="1"/>
          </p:cNvSpPr>
          <p:nvPr/>
        </p:nvSpPr>
        <p:spPr>
          <a:xfrm>
            <a:off x="8229600" y="3171825"/>
            <a:ext cx="16764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Field-boundary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segmentation U-Net</a:t>
            </a:r>
          </a:p>
        </p:txBody>
      </p:sp>
      <p:sp>
        <p:nvSpPr>
          <p:cNvPr id="29" name="transfer-note">
            <a:extLst>
              <a:ext uri="{FF2B5EF4-FFF2-40B4-BE49-F238E27FC236}">
                <a16:creationId xmlns:a16="http://schemas.microsoft.com/office/drawing/2014/main" id="{A41569C9-D5BA-4C39-898D-16E9B59139C8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9372600" cy="1257300"/>
          </a:xfrm>
          <a:prstGeom prst="rect">
            <a:avLst/>
          </a:prstGeom>
          <a:solidFill>
            <a:srgbClr val="121C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ransfer-bullet-1">
            <a:extLst>
              <a:ext uri="{FF2B5EF4-FFF2-40B4-BE49-F238E27FC236}">
                <a16:creationId xmlns:a16="http://schemas.microsoft.com/office/drawing/2014/main" id="{D7FFF842-5176-4923-9DB3-B8B005E39379}"/>
              </a:ext>
            </a:extLst>
          </p:cNvPr>
          <p:cNvSpPr>
            <a:spLocks noGrp="1"/>
          </p:cNvSpPr>
          <p:nvPr/>
        </p:nvSpPr>
        <p:spPr>
          <a:xfrm>
            <a:off x="876300" y="4629150"/>
            <a:ext cx="76200" cy="76200"/>
          </a:xfrm>
          <a:prstGeom prst="ellipse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ransfer-bullet-1-text">
            <a:extLst>
              <a:ext uri="{FF2B5EF4-FFF2-40B4-BE49-F238E27FC236}">
                <a16:creationId xmlns:a16="http://schemas.microsoft.com/office/drawing/2014/main" id="{6CCCA991-EBA8-4139-BC60-AD6923EC0C44}"/>
              </a:ext>
            </a:extLst>
          </p:cNvPr>
          <p:cNvSpPr>
            <a:spLocks noGrp="1"/>
          </p:cNvSpPr>
          <p:nvPr/>
        </p:nvSpPr>
        <p:spPr>
          <a:xfrm>
            <a:off x="1047750" y="45720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Validation can use EMA weights for a less noisy view of progress.</a:t>
            </a:r>
          </a:p>
        </p:txBody>
      </p:sp>
      <p:sp>
        <p:nvSpPr>
          <p:cNvPr id="32" name="transfer-bullet-2">
            <a:extLst>
              <a:ext uri="{FF2B5EF4-FFF2-40B4-BE49-F238E27FC236}">
                <a16:creationId xmlns:a16="http://schemas.microsoft.com/office/drawing/2014/main" id="{689F1E09-D2C2-46A4-9FD6-B30A5A52FCDB}"/>
              </a:ext>
            </a:extLst>
          </p:cNvPr>
          <p:cNvSpPr>
            <a:spLocks noGrp="1"/>
          </p:cNvSpPr>
          <p:nvPr/>
        </p:nvSpPr>
        <p:spPr>
          <a:xfrm>
            <a:off x="876300" y="5124450"/>
            <a:ext cx="76200" cy="76200"/>
          </a:xfrm>
          <a:prstGeom prst="ellipse">
            <a:avLst/>
          </a:prstGeom>
          <a:solidFill>
            <a:srgbClr val="70B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ransfer-bullet-2-text">
            <a:extLst>
              <a:ext uri="{FF2B5EF4-FFF2-40B4-BE49-F238E27FC236}">
                <a16:creationId xmlns:a16="http://schemas.microsoft.com/office/drawing/2014/main" id="{C3CE2F5F-2D3D-4A0A-ACFD-2716E9E9FC61}"/>
              </a:ext>
            </a:extLst>
          </p:cNvPr>
          <p:cNvSpPr>
            <a:spLocks noGrp="1"/>
          </p:cNvSpPr>
          <p:nvPr/>
        </p:nvSpPr>
        <p:spPr>
          <a:xfrm>
            <a:off x="1047750" y="506730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The exported encoder loads strictly into the downstream model.</a:t>
            </a:r>
          </a:p>
        </p:txBody>
      </p:sp>
      <p:sp>
        <p:nvSpPr>
          <p:cNvPr id="34" name="transfer-bullet-3">
            <a:extLst>
              <a:ext uri="{FF2B5EF4-FFF2-40B4-BE49-F238E27FC236}">
                <a16:creationId xmlns:a16="http://schemas.microsoft.com/office/drawing/2014/main" id="{716C8A61-D39E-4BB2-B9BA-5A3D47E5373E}"/>
              </a:ext>
            </a:extLst>
          </p:cNvPr>
          <p:cNvSpPr>
            <a:spLocks noGrp="1"/>
          </p:cNvSpPr>
          <p:nvPr/>
        </p:nvSpPr>
        <p:spPr>
          <a:xfrm>
            <a:off x="5467350" y="4629150"/>
            <a:ext cx="76200" cy="76200"/>
          </a:xfrm>
          <a:prstGeom prst="ellipse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ransfer-bullet-3-text">
            <a:extLst>
              <a:ext uri="{FF2B5EF4-FFF2-40B4-BE49-F238E27FC236}">
                <a16:creationId xmlns:a16="http://schemas.microsoft.com/office/drawing/2014/main" id="{CA7E5A8B-53E5-441E-94E2-FFE2CB244E64}"/>
              </a:ext>
            </a:extLst>
          </p:cNvPr>
          <p:cNvSpPr>
            <a:spLocks noGrp="1"/>
          </p:cNvSpPr>
          <p:nvPr/>
        </p:nvSpPr>
        <p:spPr>
          <a:xfrm>
            <a:off x="5638800" y="4572000"/>
            <a:ext cx="3962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Ten timestep bins reveal where denoising is still weak.</a:t>
            </a:r>
          </a:p>
        </p:txBody>
      </p:sp>
      <p:sp>
        <p:nvSpPr>
          <p:cNvPr id="36" name="transfer-bullet-4">
            <a:extLst>
              <a:ext uri="{FF2B5EF4-FFF2-40B4-BE49-F238E27FC236}">
                <a16:creationId xmlns:a16="http://schemas.microsoft.com/office/drawing/2014/main" id="{B0B404DF-0144-46B6-BBBA-42EF60E5DED4}"/>
              </a:ext>
            </a:extLst>
          </p:cNvPr>
          <p:cNvSpPr>
            <a:spLocks noGrp="1"/>
          </p:cNvSpPr>
          <p:nvPr/>
        </p:nvSpPr>
        <p:spPr>
          <a:xfrm>
            <a:off x="5467350" y="5124450"/>
            <a:ext cx="76200" cy="762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ransfer-bullet-4-text">
            <a:extLst>
              <a:ext uri="{FF2B5EF4-FFF2-40B4-BE49-F238E27FC236}">
                <a16:creationId xmlns:a16="http://schemas.microsoft.com/office/drawing/2014/main" id="{01F3E1CD-6220-41DF-9D45-703706742142}"/>
              </a:ext>
            </a:extLst>
          </p:cNvPr>
          <p:cNvSpPr>
            <a:spLocks noGrp="1"/>
          </p:cNvSpPr>
          <p:nvPr/>
        </p:nvSpPr>
        <p:spPr>
          <a:xfrm>
            <a:off x="5638800" y="5067300"/>
            <a:ext cx="3962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Encoder-only transfer tests isolate representation quality.</a:t>
            </a:r>
          </a:p>
        </p:txBody>
      </p:sp>
      <p:sp>
        <p:nvSpPr>
          <p:cNvPr id="38" name="bins-panel">
            <a:extLst>
              <a:ext uri="{FF2B5EF4-FFF2-40B4-BE49-F238E27FC236}">
                <a16:creationId xmlns:a16="http://schemas.microsoft.com/office/drawing/2014/main" id="{52AE41F7-21BB-4FDB-8758-8D51AE974C2A}"/>
              </a:ext>
            </a:extLst>
          </p:cNvPr>
          <p:cNvSpPr>
            <a:spLocks noGrp="1"/>
          </p:cNvSpPr>
          <p:nvPr/>
        </p:nvSpPr>
        <p:spPr>
          <a:xfrm>
            <a:off x="10401300" y="2724150"/>
            <a:ext cx="1047750" cy="262890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BD88E5-E22E-4168-B54A-E6CDBBA95DDA}"/>
              </a:ext>
            </a:extLst>
          </p:cNvPr>
          <p:cNvSpPr>
            <a:spLocks noGrp="1"/>
          </p:cNvSpPr>
          <p:nvPr/>
        </p:nvSpPr>
        <p:spPr>
          <a:xfrm>
            <a:off x="10591800" y="29146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E4B76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4B76A"/>
                </a:solidFill>
                <a:latin typeface="Aptos Mono"/>
                <a:ea typeface="Aptos Mono"/>
                <a:cs typeface="Aptos Mono"/>
              </a:rPr>
              <a:t>VAL BINS</a:t>
            </a:r>
          </a:p>
        </p:txBody>
      </p:sp>
      <p:sp>
        <p:nvSpPr>
          <p:cNvPr id="40" name="val-bin-0">
            <a:extLst>
              <a:ext uri="{FF2B5EF4-FFF2-40B4-BE49-F238E27FC236}">
                <a16:creationId xmlns:a16="http://schemas.microsoft.com/office/drawing/2014/main" id="{E8A0F229-AF3E-4A2C-A734-F6173F12D6C4}"/>
              </a:ext>
            </a:extLst>
          </p:cNvPr>
          <p:cNvSpPr>
            <a:spLocks noGrp="1"/>
          </p:cNvSpPr>
          <p:nvPr/>
        </p:nvSpPr>
        <p:spPr>
          <a:xfrm>
            <a:off x="10591800" y="3276600"/>
            <a:ext cx="304800" cy="66675"/>
          </a:xfrm>
          <a:prstGeom prst="rect">
            <a:avLst/>
          </a:prstGeom>
          <a:solidFill>
            <a:srgbClr val="70B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val-bin-1">
            <a:extLst>
              <a:ext uri="{FF2B5EF4-FFF2-40B4-BE49-F238E27FC236}">
                <a16:creationId xmlns:a16="http://schemas.microsoft.com/office/drawing/2014/main" id="{26E33695-DB61-4FB3-889A-2A80BA5753E8}"/>
              </a:ext>
            </a:extLst>
          </p:cNvPr>
          <p:cNvSpPr>
            <a:spLocks noGrp="1"/>
          </p:cNvSpPr>
          <p:nvPr/>
        </p:nvSpPr>
        <p:spPr>
          <a:xfrm>
            <a:off x="10591800" y="3457575"/>
            <a:ext cx="428625" cy="66675"/>
          </a:xfrm>
          <a:prstGeom prst="rect">
            <a:avLst/>
          </a:prstGeom>
          <a:solidFill>
            <a:srgbClr val="70B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val-bin-2">
            <a:extLst>
              <a:ext uri="{FF2B5EF4-FFF2-40B4-BE49-F238E27FC236}">
                <a16:creationId xmlns:a16="http://schemas.microsoft.com/office/drawing/2014/main" id="{3642B5DA-3504-43A8-A1EE-04A76581942F}"/>
              </a:ext>
            </a:extLst>
          </p:cNvPr>
          <p:cNvSpPr>
            <a:spLocks noGrp="1"/>
          </p:cNvSpPr>
          <p:nvPr/>
        </p:nvSpPr>
        <p:spPr>
          <a:xfrm>
            <a:off x="10591800" y="3638550"/>
            <a:ext cx="552450" cy="66675"/>
          </a:xfrm>
          <a:prstGeom prst="rect">
            <a:avLst/>
          </a:prstGeom>
          <a:solidFill>
            <a:srgbClr val="70B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val-bin-3">
            <a:extLst>
              <a:ext uri="{FF2B5EF4-FFF2-40B4-BE49-F238E27FC236}">
                <a16:creationId xmlns:a16="http://schemas.microsoft.com/office/drawing/2014/main" id="{C61F27DA-39E7-4814-9EF2-C34B55F214B7}"/>
              </a:ext>
            </a:extLst>
          </p:cNvPr>
          <p:cNvSpPr>
            <a:spLocks noGrp="1"/>
          </p:cNvSpPr>
          <p:nvPr/>
        </p:nvSpPr>
        <p:spPr>
          <a:xfrm>
            <a:off x="10591800" y="3819525"/>
            <a:ext cx="676275" cy="66675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val-bin-4">
            <a:extLst>
              <a:ext uri="{FF2B5EF4-FFF2-40B4-BE49-F238E27FC236}">
                <a16:creationId xmlns:a16="http://schemas.microsoft.com/office/drawing/2014/main" id="{0D197AF0-F0AC-461C-8EF7-3C155C1465A1}"/>
              </a:ext>
            </a:extLst>
          </p:cNvPr>
          <p:cNvSpPr>
            <a:spLocks noGrp="1"/>
          </p:cNvSpPr>
          <p:nvPr/>
        </p:nvSpPr>
        <p:spPr>
          <a:xfrm>
            <a:off x="10591800" y="4000500"/>
            <a:ext cx="361950" cy="66675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val-bin-5">
            <a:extLst>
              <a:ext uri="{FF2B5EF4-FFF2-40B4-BE49-F238E27FC236}">
                <a16:creationId xmlns:a16="http://schemas.microsoft.com/office/drawing/2014/main" id="{0AD77C21-020C-49D3-9F5B-F53F4F66BE2C}"/>
              </a:ext>
            </a:extLst>
          </p:cNvPr>
          <p:cNvSpPr>
            <a:spLocks noGrp="1"/>
          </p:cNvSpPr>
          <p:nvPr/>
        </p:nvSpPr>
        <p:spPr>
          <a:xfrm>
            <a:off x="10591800" y="4181475"/>
            <a:ext cx="485775" cy="66675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val-bin-6">
            <a:extLst>
              <a:ext uri="{FF2B5EF4-FFF2-40B4-BE49-F238E27FC236}">
                <a16:creationId xmlns:a16="http://schemas.microsoft.com/office/drawing/2014/main" id="{F0D799BD-3F8E-4F81-84B0-C3B7997F75CF}"/>
              </a:ext>
            </a:extLst>
          </p:cNvPr>
          <p:cNvSpPr>
            <a:spLocks noGrp="1"/>
          </p:cNvSpPr>
          <p:nvPr/>
        </p:nvSpPr>
        <p:spPr>
          <a:xfrm>
            <a:off x="10591800" y="4362450"/>
            <a:ext cx="609600" cy="66675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val-bin-7">
            <a:extLst>
              <a:ext uri="{FF2B5EF4-FFF2-40B4-BE49-F238E27FC236}">
                <a16:creationId xmlns:a16="http://schemas.microsoft.com/office/drawing/2014/main" id="{84F1627E-09CD-436A-AD87-983C756AF31C}"/>
              </a:ext>
            </a:extLst>
          </p:cNvPr>
          <p:cNvSpPr>
            <a:spLocks noGrp="1"/>
          </p:cNvSpPr>
          <p:nvPr/>
        </p:nvSpPr>
        <p:spPr>
          <a:xfrm>
            <a:off x="10591800" y="4543425"/>
            <a:ext cx="733425" cy="66675"/>
          </a:xfrm>
          <a:prstGeom prst="rect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val-bin-8">
            <a:extLst>
              <a:ext uri="{FF2B5EF4-FFF2-40B4-BE49-F238E27FC236}">
                <a16:creationId xmlns:a16="http://schemas.microsoft.com/office/drawing/2014/main" id="{8386CD3D-9F02-4590-8856-4EDF046BAD7C}"/>
              </a:ext>
            </a:extLst>
          </p:cNvPr>
          <p:cNvSpPr>
            <a:spLocks noGrp="1"/>
          </p:cNvSpPr>
          <p:nvPr/>
        </p:nvSpPr>
        <p:spPr>
          <a:xfrm>
            <a:off x="10591800" y="4724400"/>
            <a:ext cx="419100" cy="66675"/>
          </a:xfrm>
          <a:prstGeom prst="rect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val-bin-9">
            <a:extLst>
              <a:ext uri="{FF2B5EF4-FFF2-40B4-BE49-F238E27FC236}">
                <a16:creationId xmlns:a16="http://schemas.microsoft.com/office/drawing/2014/main" id="{D218915E-4B18-4110-BF93-257853D73E5E}"/>
              </a:ext>
            </a:extLst>
          </p:cNvPr>
          <p:cNvSpPr>
            <a:spLocks noGrp="1"/>
          </p:cNvSpPr>
          <p:nvPr/>
        </p:nvSpPr>
        <p:spPr>
          <a:xfrm>
            <a:off x="10591800" y="4905375"/>
            <a:ext cx="542925" cy="66675"/>
          </a:xfrm>
          <a:prstGeom prst="rect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63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ackground">
            <a:extLst>
              <a:ext uri="{FF2B5EF4-FFF2-40B4-BE49-F238E27FC236}">
                <a16:creationId xmlns:a16="http://schemas.microsoft.com/office/drawing/2014/main" id="{1F29C7CC-0B5D-43CA-A9D2-B9B6AD9AB3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left-accent">
            <a:extLst>
              <a:ext uri="{FF2B5EF4-FFF2-40B4-BE49-F238E27FC236}">
                <a16:creationId xmlns:a16="http://schemas.microsoft.com/office/drawing/2014/main" id="{54ADBD76-A881-45F2-9AC7-BAF4921DDB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311EC6D1-6BE0-4F4E-9A18-84C592B95913}"/>
              </a:ext>
            </a:extLst>
          </p:cNvPr>
          <p:cNvSpPr>
            <a:spLocks noGrp="1"/>
          </p:cNvSpPr>
          <p:nvPr/>
        </p:nvSpPr>
        <p:spPr>
          <a:xfrm>
            <a:off x="438150" y="6419850"/>
            <a:ext cx="113157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source">
            <a:extLst>
              <a:ext uri="{FF2B5EF4-FFF2-40B4-BE49-F238E27FC236}">
                <a16:creationId xmlns:a16="http://schemas.microsoft.com/office/drawing/2014/main" id="{3D9EE4B3-EE12-4E63-A98A-734DF76FCA38}"/>
              </a:ext>
            </a:extLst>
          </p:cNvPr>
          <p:cNvSpPr>
            <a:spLocks noGrp="1"/>
          </p:cNvSpPr>
          <p:nvPr/>
        </p:nvSpPr>
        <p:spPr>
          <a:xfrm>
            <a:off x="457200" y="6553200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FTW / NICFI PRETRAINING</a:t>
            </a:r>
          </a:p>
        </p:txBody>
      </p:sp>
      <p:sp>
        <p:nvSpPr>
          <p:cNvPr id="5" name="footer-page">
            <a:extLst>
              <a:ext uri="{FF2B5EF4-FFF2-40B4-BE49-F238E27FC236}">
                <a16:creationId xmlns:a16="http://schemas.microsoft.com/office/drawing/2014/main" id="{9BFB75D8-E3DA-4F06-A330-0840E7341F4B}"/>
              </a:ext>
            </a:extLst>
          </p:cNvPr>
          <p:cNvSpPr>
            <a:spLocks noGrp="1"/>
          </p:cNvSpPr>
          <p:nvPr/>
        </p:nvSpPr>
        <p:spPr>
          <a:xfrm>
            <a:off x="9906000" y="655320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AWS TRAINING  |  06</a:t>
            </a:r>
          </a:p>
        </p:txBody>
      </p:sp>
      <p:sp>
        <p:nvSpPr>
          <p:cNvPr id="6" name="kicker-06-marker">
            <a:extLst>
              <a:ext uri="{FF2B5EF4-FFF2-40B4-BE49-F238E27FC236}">
                <a16:creationId xmlns:a16="http://schemas.microsoft.com/office/drawing/2014/main" id="{64108F5E-AD55-4327-BC16-210BD06ADB3E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95250" cy="95250"/>
          </a:xfrm>
          <a:prstGeom prst="ellipse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icker-06-label">
            <a:extLst>
              <a:ext uri="{FF2B5EF4-FFF2-40B4-BE49-F238E27FC236}">
                <a16:creationId xmlns:a16="http://schemas.microsoft.com/office/drawing/2014/main" id="{B7E9A3B6-B630-46B1-9445-4192B1280856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SYSTEM THROUGHPUT</a:t>
            </a:r>
          </a:p>
        </p:txBody>
      </p:sp>
      <p:sp>
        <p:nvSpPr>
          <p:cNvPr id="8" name="claim-title">
            <a:extLst>
              <a:ext uri="{FF2B5EF4-FFF2-40B4-BE49-F238E27FC236}">
                <a16:creationId xmlns:a16="http://schemas.microsoft.com/office/drawing/2014/main" id="{06D4518D-E0C5-4070-84ED-9867AE0E2757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The AWS path now uses eight GPUs and a</a:t>
            </a:r>
          </a:p>
          <a:p>
            <a:pPr algn="l">
              <a:def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more deliberate loader pipeline.</a:t>
            </a:r>
          </a:p>
        </p:txBody>
      </p:sp>
      <p:sp>
        <p:nvSpPr>
          <p:cNvPr id="9" name="support-note">
            <a:extLst>
              <a:ext uri="{FF2B5EF4-FFF2-40B4-BE49-F238E27FC236}">
                <a16:creationId xmlns:a16="http://schemas.microsoft.com/office/drawing/2014/main" id="{8A6EAC41-9633-40DC-B500-23B7F700CD78}"/>
              </a:ext>
            </a:extLst>
          </p:cNvPr>
          <p:cNvSpPr>
            <a:spLocks noGrp="1"/>
          </p:cNvSpPr>
          <p:nvPr/>
        </p:nvSpPr>
        <p:spPr>
          <a:xfrm>
            <a:off x="514350" y="1733550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These are implemented throughput controls. The short AWS benchmark still needs to measure the actual images-per-second gain.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019EEF-B1DD-4FCB-943C-74F0D5E702E1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DATA PATH</a:t>
            </a:r>
          </a:p>
        </p:txBody>
      </p:sp>
      <p:sp>
        <p:nvSpPr>
          <p:cNvPr id="11" name="s3-source">
            <a:extLst>
              <a:ext uri="{FF2B5EF4-FFF2-40B4-BE49-F238E27FC236}">
                <a16:creationId xmlns:a16="http://schemas.microsoft.com/office/drawing/2014/main" id="{6510FEC8-1C7F-42FA-AA9F-33D9D83D6D8E}"/>
              </a:ext>
            </a:extLst>
          </p:cNvPr>
          <p:cNvSpPr>
            <a:spLocks noGrp="1"/>
          </p:cNvSpPr>
          <p:nvPr/>
        </p:nvSpPr>
        <p:spPr>
          <a:xfrm>
            <a:off x="647700" y="2838450"/>
            <a:ext cx="1619250" cy="91440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3-source-tag">
            <a:extLst>
              <a:ext uri="{FF2B5EF4-FFF2-40B4-BE49-F238E27FC236}">
                <a16:creationId xmlns:a16="http://schemas.microsoft.com/office/drawing/2014/main" id="{E3703F82-01E6-449D-B734-8A34B9209BEF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135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SOURCE</a:t>
            </a:r>
          </a:p>
        </p:txBody>
      </p:sp>
      <p:sp>
        <p:nvSpPr>
          <p:cNvPr id="13" name="s3-source-label">
            <a:extLst>
              <a:ext uri="{FF2B5EF4-FFF2-40B4-BE49-F238E27FC236}">
                <a16:creationId xmlns:a16="http://schemas.microsoft.com/office/drawing/2014/main" id="{F547FD2B-0A5E-434E-963B-F8412512F57F}"/>
              </a:ext>
            </a:extLst>
          </p:cNvPr>
          <p:cNvSpPr>
            <a:spLocks noGrp="1"/>
          </p:cNvSpPr>
          <p:nvPr/>
        </p:nvSpPr>
        <p:spPr>
          <a:xfrm>
            <a:off x="781050" y="3133725"/>
            <a:ext cx="1352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Mounted S3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NICFI chips</a:t>
            </a:r>
          </a:p>
        </p:txBody>
      </p:sp>
      <p:sp>
        <p:nvSpPr>
          <p:cNvPr id="14" name="data-arrow-1-line">
            <a:extLst>
              <a:ext uri="{FF2B5EF4-FFF2-40B4-BE49-F238E27FC236}">
                <a16:creationId xmlns:a16="http://schemas.microsoft.com/office/drawing/2014/main" id="{FBC74E90-C161-481F-AACF-46127322E82C}"/>
              </a:ext>
            </a:extLst>
          </p:cNvPr>
          <p:cNvSpPr>
            <a:spLocks noGrp="1"/>
          </p:cNvSpPr>
          <p:nvPr/>
        </p:nvSpPr>
        <p:spPr>
          <a:xfrm>
            <a:off x="2286000" y="3295650"/>
            <a:ext cx="419100" cy="2857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ata-arrow-1-head">
            <a:extLst>
              <a:ext uri="{FF2B5EF4-FFF2-40B4-BE49-F238E27FC236}">
                <a16:creationId xmlns:a16="http://schemas.microsoft.com/office/drawing/2014/main" id="{4AFAC6ED-198E-47FE-A2AC-E8C11C1525F9}"/>
              </a:ext>
            </a:extLst>
          </p:cNvPr>
          <p:cNvSpPr>
            <a:spLocks noGrp="1"/>
          </p:cNvSpPr>
          <p:nvPr/>
        </p:nvSpPr>
        <p:spPr>
          <a:xfrm>
            <a:off x="2686050" y="315277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loader-workers">
            <a:extLst>
              <a:ext uri="{FF2B5EF4-FFF2-40B4-BE49-F238E27FC236}">
                <a16:creationId xmlns:a16="http://schemas.microsoft.com/office/drawing/2014/main" id="{27F5A1FA-2332-4C45-A77C-3CFB44FEC776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1619250" cy="91440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loader-workers-tag">
            <a:extLst>
              <a:ext uri="{FF2B5EF4-FFF2-40B4-BE49-F238E27FC236}">
                <a16:creationId xmlns:a16="http://schemas.microsoft.com/office/drawing/2014/main" id="{EB190017-C097-4DE8-A375-950DBA6809A7}"/>
              </a:ext>
            </a:extLst>
          </p:cNvPr>
          <p:cNvSpPr>
            <a:spLocks noGrp="1"/>
          </p:cNvSpPr>
          <p:nvPr/>
        </p:nvSpPr>
        <p:spPr>
          <a:xfrm>
            <a:off x="3009900" y="2933700"/>
            <a:ext cx="135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4 / RANK</a:t>
            </a:r>
          </a:p>
        </p:txBody>
      </p:sp>
      <p:sp>
        <p:nvSpPr>
          <p:cNvPr id="18" name="loader-workers-label">
            <a:extLst>
              <a:ext uri="{FF2B5EF4-FFF2-40B4-BE49-F238E27FC236}">
                <a16:creationId xmlns:a16="http://schemas.microsoft.com/office/drawing/2014/main" id="{28DB1820-A50E-4EB2-ABB8-488662FA6979}"/>
              </a:ext>
            </a:extLst>
          </p:cNvPr>
          <p:cNvSpPr>
            <a:spLocks noGrp="1"/>
          </p:cNvSpPr>
          <p:nvPr/>
        </p:nvSpPr>
        <p:spPr>
          <a:xfrm>
            <a:off x="3009900" y="3133725"/>
            <a:ext cx="1352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Persistent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loader workers</a:t>
            </a:r>
          </a:p>
        </p:txBody>
      </p:sp>
      <p:sp>
        <p:nvSpPr>
          <p:cNvPr id="19" name="data-arrow-2-line">
            <a:extLst>
              <a:ext uri="{FF2B5EF4-FFF2-40B4-BE49-F238E27FC236}">
                <a16:creationId xmlns:a16="http://schemas.microsoft.com/office/drawing/2014/main" id="{52A49B92-AC32-4326-A0E7-A631B01E1B58}"/>
              </a:ext>
            </a:extLst>
          </p:cNvPr>
          <p:cNvSpPr>
            <a:spLocks noGrp="1"/>
          </p:cNvSpPr>
          <p:nvPr/>
        </p:nvSpPr>
        <p:spPr>
          <a:xfrm>
            <a:off x="4514850" y="3295650"/>
            <a:ext cx="419100" cy="2857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data-arrow-2-head">
            <a:extLst>
              <a:ext uri="{FF2B5EF4-FFF2-40B4-BE49-F238E27FC236}">
                <a16:creationId xmlns:a16="http://schemas.microsoft.com/office/drawing/2014/main" id="{27799F9F-DFD5-4AAE-B5F6-9F8CDAFA8444}"/>
              </a:ext>
            </a:extLst>
          </p:cNvPr>
          <p:cNvSpPr>
            <a:spLocks noGrp="1"/>
          </p:cNvSpPr>
          <p:nvPr/>
        </p:nvSpPr>
        <p:spPr>
          <a:xfrm>
            <a:off x="4914900" y="315277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prefetch-pin">
            <a:extLst>
              <a:ext uri="{FF2B5EF4-FFF2-40B4-BE49-F238E27FC236}">
                <a16:creationId xmlns:a16="http://schemas.microsoft.com/office/drawing/2014/main" id="{6EFDEDC0-584A-4ED9-BEF4-2DC27C29713D}"/>
              </a:ext>
            </a:extLst>
          </p:cNvPr>
          <p:cNvSpPr>
            <a:spLocks noGrp="1"/>
          </p:cNvSpPr>
          <p:nvPr/>
        </p:nvSpPr>
        <p:spPr>
          <a:xfrm>
            <a:off x="5105400" y="2838450"/>
            <a:ext cx="1619250" cy="91440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efetch-pin-tag">
            <a:extLst>
              <a:ext uri="{FF2B5EF4-FFF2-40B4-BE49-F238E27FC236}">
                <a16:creationId xmlns:a16="http://schemas.microsoft.com/office/drawing/2014/main" id="{4F256AB1-46B0-445A-9324-15DD94FBD5E5}"/>
              </a:ext>
            </a:extLst>
          </p:cNvPr>
          <p:cNvSpPr>
            <a:spLocks noGrp="1"/>
          </p:cNvSpPr>
          <p:nvPr/>
        </p:nvSpPr>
        <p:spPr>
          <a:xfrm>
            <a:off x="5238750" y="2933700"/>
            <a:ext cx="135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FACTOR 4</a:t>
            </a:r>
          </a:p>
        </p:txBody>
      </p:sp>
      <p:sp>
        <p:nvSpPr>
          <p:cNvPr id="23" name="prefetch-pin-label">
            <a:extLst>
              <a:ext uri="{FF2B5EF4-FFF2-40B4-BE49-F238E27FC236}">
                <a16:creationId xmlns:a16="http://schemas.microsoft.com/office/drawing/2014/main" id="{E8ECA778-12FC-4039-88C2-D6ED6B99A1F1}"/>
              </a:ext>
            </a:extLst>
          </p:cNvPr>
          <p:cNvSpPr>
            <a:spLocks noGrp="1"/>
          </p:cNvSpPr>
          <p:nvPr/>
        </p:nvSpPr>
        <p:spPr>
          <a:xfrm>
            <a:off x="5238750" y="3133725"/>
            <a:ext cx="1352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Prefetch +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pinned memory</a:t>
            </a:r>
          </a:p>
        </p:txBody>
      </p:sp>
      <p:sp>
        <p:nvSpPr>
          <p:cNvPr id="24" name="data-arrow-3-line">
            <a:extLst>
              <a:ext uri="{FF2B5EF4-FFF2-40B4-BE49-F238E27FC236}">
                <a16:creationId xmlns:a16="http://schemas.microsoft.com/office/drawing/2014/main" id="{897046B4-28F8-451C-84DF-67954CD4DE4C}"/>
              </a:ext>
            </a:extLst>
          </p:cNvPr>
          <p:cNvSpPr>
            <a:spLocks noGrp="1"/>
          </p:cNvSpPr>
          <p:nvPr/>
        </p:nvSpPr>
        <p:spPr>
          <a:xfrm>
            <a:off x="6743700" y="3295650"/>
            <a:ext cx="419100" cy="2857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data-arrow-3-head">
            <a:extLst>
              <a:ext uri="{FF2B5EF4-FFF2-40B4-BE49-F238E27FC236}">
                <a16:creationId xmlns:a16="http://schemas.microsoft.com/office/drawing/2014/main" id="{D61231D0-342B-4275-B033-72BEE66638C0}"/>
              </a:ext>
            </a:extLst>
          </p:cNvPr>
          <p:cNvSpPr>
            <a:spLocks noGrp="1"/>
          </p:cNvSpPr>
          <p:nvPr/>
        </p:nvSpPr>
        <p:spPr>
          <a:xfrm>
            <a:off x="7143750" y="315277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mixed-precision">
            <a:extLst>
              <a:ext uri="{FF2B5EF4-FFF2-40B4-BE49-F238E27FC236}">
                <a16:creationId xmlns:a16="http://schemas.microsoft.com/office/drawing/2014/main" id="{6DED5B64-47D4-40A5-9BFB-CF17EAE74DCD}"/>
              </a:ext>
            </a:extLst>
          </p:cNvPr>
          <p:cNvSpPr>
            <a:spLocks noGrp="1"/>
          </p:cNvSpPr>
          <p:nvPr/>
        </p:nvSpPr>
        <p:spPr>
          <a:xfrm>
            <a:off x="7334250" y="2838450"/>
            <a:ext cx="1619250" cy="91440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mixed-precision-tag">
            <a:extLst>
              <a:ext uri="{FF2B5EF4-FFF2-40B4-BE49-F238E27FC236}">
                <a16:creationId xmlns:a16="http://schemas.microsoft.com/office/drawing/2014/main" id="{F5DC70A1-F1D9-427B-9320-94B11E372DDA}"/>
              </a:ext>
            </a:extLst>
          </p:cNvPr>
          <p:cNvSpPr>
            <a:spLocks noGrp="1"/>
          </p:cNvSpPr>
          <p:nvPr/>
        </p:nvSpPr>
        <p:spPr>
          <a:xfrm>
            <a:off x="7467600" y="2933700"/>
            <a:ext cx="135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76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4B76A"/>
                </a:solidFill>
                <a:latin typeface="Aptos Mono"/>
                <a:ea typeface="Aptos Mono"/>
                <a:cs typeface="Aptos Mono"/>
              </a:rPr>
              <a:t>AMP</a:t>
            </a:r>
          </a:p>
        </p:txBody>
      </p:sp>
      <p:sp>
        <p:nvSpPr>
          <p:cNvPr id="28" name="mixed-precision-label">
            <a:extLst>
              <a:ext uri="{FF2B5EF4-FFF2-40B4-BE49-F238E27FC236}">
                <a16:creationId xmlns:a16="http://schemas.microsoft.com/office/drawing/2014/main" id="{37C3FA69-1341-4134-9399-7879F36CB4F4}"/>
              </a:ext>
            </a:extLst>
          </p:cNvPr>
          <p:cNvSpPr>
            <a:spLocks noGrp="1"/>
          </p:cNvSpPr>
          <p:nvPr/>
        </p:nvSpPr>
        <p:spPr>
          <a:xfrm>
            <a:off x="7467600" y="3133725"/>
            <a:ext cx="1352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16-mixed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29" name="data-arrow-4-line">
            <a:extLst>
              <a:ext uri="{FF2B5EF4-FFF2-40B4-BE49-F238E27FC236}">
                <a16:creationId xmlns:a16="http://schemas.microsoft.com/office/drawing/2014/main" id="{69C6B996-CB8B-487A-BED6-222F653240BB}"/>
              </a:ext>
            </a:extLst>
          </p:cNvPr>
          <p:cNvSpPr>
            <a:spLocks noGrp="1"/>
          </p:cNvSpPr>
          <p:nvPr/>
        </p:nvSpPr>
        <p:spPr>
          <a:xfrm>
            <a:off x="8972550" y="3295650"/>
            <a:ext cx="419100" cy="2857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data-arrow-4-head">
            <a:extLst>
              <a:ext uri="{FF2B5EF4-FFF2-40B4-BE49-F238E27FC236}">
                <a16:creationId xmlns:a16="http://schemas.microsoft.com/office/drawing/2014/main" id="{8CF348BE-A437-4FCC-AA5E-EB80F129ECCD}"/>
              </a:ext>
            </a:extLst>
          </p:cNvPr>
          <p:cNvSpPr>
            <a:spLocks noGrp="1"/>
          </p:cNvSpPr>
          <p:nvPr/>
        </p:nvSpPr>
        <p:spPr>
          <a:xfrm>
            <a:off x="9372600" y="315277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950" b="1">
                <a:solidFill>
                  <a:srgbClr val="5D6C7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6C7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ddp-workers">
            <a:extLst>
              <a:ext uri="{FF2B5EF4-FFF2-40B4-BE49-F238E27FC236}">
                <a16:creationId xmlns:a16="http://schemas.microsoft.com/office/drawing/2014/main" id="{376AB280-157B-4DCB-9761-8AE597CBE522}"/>
              </a:ext>
            </a:extLst>
          </p:cNvPr>
          <p:cNvSpPr>
            <a:spLocks noGrp="1"/>
          </p:cNvSpPr>
          <p:nvPr/>
        </p:nvSpPr>
        <p:spPr>
          <a:xfrm>
            <a:off x="9563100" y="2838450"/>
            <a:ext cx="1828800" cy="914400"/>
          </a:xfrm>
          <a:prstGeom prst="rect">
            <a:avLst/>
          </a:prstGeom>
          <a:solidFill>
            <a:srgbClr val="182434"/>
          </a:solidFill>
          <a:ln w="9525">
            <a:solidFill>
              <a:srgbClr val="5D6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ddp-workers-tag">
            <a:extLst>
              <a:ext uri="{FF2B5EF4-FFF2-40B4-BE49-F238E27FC236}">
                <a16:creationId xmlns:a16="http://schemas.microsoft.com/office/drawing/2014/main" id="{9226BB7E-3AD5-4AFE-838B-582986A66DD1}"/>
              </a:ext>
            </a:extLst>
          </p:cNvPr>
          <p:cNvSpPr>
            <a:spLocks noGrp="1"/>
          </p:cNvSpPr>
          <p:nvPr/>
        </p:nvSpPr>
        <p:spPr>
          <a:xfrm>
            <a:off x="9696450" y="2933700"/>
            <a:ext cx="1562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P3 TARGET</a:t>
            </a:r>
          </a:p>
        </p:txBody>
      </p:sp>
      <p:sp>
        <p:nvSpPr>
          <p:cNvPr id="33" name="ddp-workers-label">
            <a:extLst>
              <a:ext uri="{FF2B5EF4-FFF2-40B4-BE49-F238E27FC236}">
                <a16:creationId xmlns:a16="http://schemas.microsoft.com/office/drawing/2014/main" id="{CF24BC71-81A7-460E-9B55-792B95983107}"/>
              </a:ext>
            </a:extLst>
          </p:cNvPr>
          <p:cNvSpPr>
            <a:spLocks noGrp="1"/>
          </p:cNvSpPr>
          <p:nvPr/>
        </p:nvSpPr>
        <p:spPr>
          <a:xfrm>
            <a:off x="9696450" y="3133725"/>
            <a:ext cx="1562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8 x CUDA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DDP workers</a:t>
            </a:r>
          </a:p>
        </p:txBody>
      </p:sp>
      <p:sp>
        <p:nvSpPr>
          <p:cNvPr id="34" name="implemented-controls">
            <a:extLst>
              <a:ext uri="{FF2B5EF4-FFF2-40B4-BE49-F238E27FC236}">
                <a16:creationId xmlns:a16="http://schemas.microsoft.com/office/drawing/2014/main" id="{47A2A8D9-83D1-4475-9A79-79B3035F26A6}"/>
              </a:ext>
            </a:extLst>
          </p:cNvPr>
          <p:cNvSpPr>
            <a:spLocks noGrp="1"/>
          </p:cNvSpPr>
          <p:nvPr/>
        </p:nvSpPr>
        <p:spPr>
          <a:xfrm>
            <a:off x="647700" y="4171950"/>
            <a:ext cx="6819900" cy="150495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1F5E9F-F0EE-4950-ACD1-4F4A4DCF735D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IMPLEMENTED FIRST-TIER CONTROLS</a:t>
            </a:r>
          </a:p>
        </p:txBody>
      </p:sp>
      <p:sp>
        <p:nvSpPr>
          <p:cNvPr id="36" name="aws-bullet-1">
            <a:extLst>
              <a:ext uri="{FF2B5EF4-FFF2-40B4-BE49-F238E27FC236}">
                <a16:creationId xmlns:a16="http://schemas.microsoft.com/office/drawing/2014/main" id="{B2485776-7348-43B0-BFDC-0FCE54861EE8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76200" cy="76200"/>
          </a:xfrm>
          <a:prstGeom prst="ellipse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aws-bullet-1-text">
            <a:extLst>
              <a:ext uri="{FF2B5EF4-FFF2-40B4-BE49-F238E27FC236}">
                <a16:creationId xmlns:a16="http://schemas.microsoft.com/office/drawing/2014/main" id="{184DCB5D-EAFD-44B5-8B38-DA21A392B630}"/>
              </a:ext>
            </a:extLst>
          </p:cNvPr>
          <p:cNvSpPr>
            <a:spLocks noGrp="1"/>
          </p:cNvSpPr>
          <p:nvPr/>
        </p:nvSpPr>
        <p:spPr>
          <a:xfrm>
            <a:off x="1047750" y="4705350"/>
            <a:ext cx="304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drop_last_train keeps distributed batches regular.</a:t>
            </a:r>
          </a:p>
        </p:txBody>
      </p:sp>
      <p:sp>
        <p:nvSpPr>
          <p:cNvPr id="38" name="aws-bullet-2">
            <a:extLst>
              <a:ext uri="{FF2B5EF4-FFF2-40B4-BE49-F238E27FC236}">
                <a16:creationId xmlns:a16="http://schemas.microsoft.com/office/drawing/2014/main" id="{1C8FC0C2-9907-4429-8E2D-8AE864B604AA}"/>
              </a:ext>
            </a:extLst>
          </p:cNvPr>
          <p:cNvSpPr>
            <a:spLocks noGrp="1"/>
          </p:cNvSpPr>
          <p:nvPr/>
        </p:nvSpPr>
        <p:spPr>
          <a:xfrm>
            <a:off x="876300" y="5200650"/>
            <a:ext cx="76200" cy="76200"/>
          </a:xfrm>
          <a:prstGeom prst="ellipse">
            <a:avLst/>
          </a:prstGeom>
          <a:solidFill>
            <a:srgbClr val="70B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aws-bullet-2-text">
            <a:extLst>
              <a:ext uri="{FF2B5EF4-FFF2-40B4-BE49-F238E27FC236}">
                <a16:creationId xmlns:a16="http://schemas.microsoft.com/office/drawing/2014/main" id="{D5FA3A1D-EB53-49CA-BFEA-3989ED0F9566}"/>
              </a:ext>
            </a:extLst>
          </p:cNvPr>
          <p:cNvSpPr>
            <a:spLocks noGrp="1"/>
          </p:cNvSpPr>
          <p:nvPr/>
        </p:nvSpPr>
        <p:spPr>
          <a:xfrm>
            <a:off x="1047750" y="514350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Standalone launcher relaunches the same DDP command.</a:t>
            </a:r>
          </a:p>
        </p:txBody>
      </p:sp>
      <p:sp>
        <p:nvSpPr>
          <p:cNvPr id="40" name="aws-bullet-3">
            <a:extLst>
              <a:ext uri="{FF2B5EF4-FFF2-40B4-BE49-F238E27FC236}">
                <a16:creationId xmlns:a16="http://schemas.microsoft.com/office/drawing/2014/main" id="{E4B91D26-5C96-48B4-A71A-18742BE2008B}"/>
              </a:ext>
            </a:extLst>
          </p:cNvPr>
          <p:cNvSpPr>
            <a:spLocks noGrp="1"/>
          </p:cNvSpPr>
          <p:nvPr/>
        </p:nvSpPr>
        <p:spPr>
          <a:xfrm>
            <a:off x="4171950" y="4762500"/>
            <a:ext cx="76200" cy="76200"/>
          </a:xfrm>
          <a:prstGeom prst="ellipse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aws-bullet-3-text">
            <a:extLst>
              <a:ext uri="{FF2B5EF4-FFF2-40B4-BE49-F238E27FC236}">
                <a16:creationId xmlns:a16="http://schemas.microsoft.com/office/drawing/2014/main" id="{34B85094-47AF-46D4-9B4B-7A0987D004E7}"/>
              </a:ext>
            </a:extLst>
          </p:cNvPr>
          <p:cNvSpPr>
            <a:spLocks noGrp="1"/>
          </p:cNvSpPr>
          <p:nvPr/>
        </p:nvSpPr>
        <p:spPr>
          <a:xfrm>
            <a:off x="4343400" y="4705350"/>
            <a:ext cx="2990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Unused-parameter scan is disabled for the known graph.</a:t>
            </a:r>
          </a:p>
        </p:txBody>
      </p:sp>
      <p:sp>
        <p:nvSpPr>
          <p:cNvPr id="42" name="aws-bullet-4">
            <a:extLst>
              <a:ext uri="{FF2B5EF4-FFF2-40B4-BE49-F238E27FC236}">
                <a16:creationId xmlns:a16="http://schemas.microsoft.com/office/drawing/2014/main" id="{5BAE9669-FCB1-44A4-B0FB-98430CD434D7}"/>
              </a:ext>
            </a:extLst>
          </p:cNvPr>
          <p:cNvSpPr>
            <a:spLocks noGrp="1"/>
          </p:cNvSpPr>
          <p:nvPr/>
        </p:nvSpPr>
        <p:spPr>
          <a:xfrm>
            <a:off x="4171950" y="5200650"/>
            <a:ext cx="76200" cy="76200"/>
          </a:xfrm>
          <a:prstGeom prst="ellipse">
            <a:avLst/>
          </a:prstGeom>
          <a:solidFill>
            <a:srgbClr val="D982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aws-bullet-4-text">
            <a:extLst>
              <a:ext uri="{FF2B5EF4-FFF2-40B4-BE49-F238E27FC236}">
                <a16:creationId xmlns:a16="http://schemas.microsoft.com/office/drawing/2014/main" id="{F2173A91-0B84-496D-8429-FAA7ACD7EA09}"/>
              </a:ext>
            </a:extLst>
          </p:cNvPr>
          <p:cNvSpPr>
            <a:spLocks noGrp="1"/>
          </p:cNvSpPr>
          <p:nvPr/>
        </p:nvSpPr>
        <p:spPr>
          <a:xfrm>
            <a:off x="4343400" y="5143500"/>
            <a:ext cx="2990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Config points directly to the mounted AWS catalog.</a:t>
            </a:r>
          </a:p>
        </p:txBody>
      </p:sp>
      <p:sp>
        <p:nvSpPr>
          <p:cNvPr id="44" name="next-tier-controls">
            <a:extLst>
              <a:ext uri="{FF2B5EF4-FFF2-40B4-BE49-F238E27FC236}">
                <a16:creationId xmlns:a16="http://schemas.microsoft.com/office/drawing/2014/main" id="{31B4F15C-BCFA-4E0B-9604-9A5DE4834A32}"/>
              </a:ext>
            </a:extLst>
          </p:cNvPr>
          <p:cNvSpPr>
            <a:spLocks noGrp="1"/>
          </p:cNvSpPr>
          <p:nvPr/>
        </p:nvSpPr>
        <p:spPr>
          <a:xfrm>
            <a:off x="7753350" y="4171950"/>
            <a:ext cx="3638550" cy="1504950"/>
          </a:xfrm>
          <a:prstGeom prst="rect">
            <a:avLst/>
          </a:prstGeom>
          <a:solidFill>
            <a:srgbClr val="121C29"/>
          </a:solidFill>
          <a:ln w="9525">
            <a:solidFill>
              <a:srgbClr val="E4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2224863-11FC-4D89-B972-699A9193D5EC}"/>
              </a:ext>
            </a:extLst>
          </p:cNvPr>
          <p:cNvSpPr>
            <a:spLocks noGrp="1"/>
          </p:cNvSpPr>
          <p:nvPr/>
        </p:nvSpPr>
        <p:spPr>
          <a:xfrm>
            <a:off x="7981950" y="4362450"/>
            <a:ext cx="3181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76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4B76A"/>
                </a:solidFill>
                <a:latin typeface="Aptos Mono"/>
                <a:ea typeface="Aptos Mono"/>
                <a:cs typeface="Aptos Mono"/>
              </a:rPr>
              <a:t>IF S3 MOUNT REMAINS THE BOTTLENECK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E8BC5F-E328-4F3B-8176-DC467C2709FF}"/>
              </a:ext>
            </a:extLst>
          </p:cNvPr>
          <p:cNvSpPr>
            <a:spLocks noGrp="1"/>
          </p:cNvSpPr>
          <p:nvPr/>
        </p:nvSpPr>
        <p:spPr>
          <a:xfrm>
            <a:off x="7981950" y="4705350"/>
            <a:ext cx="304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Stage shards to local NVMe or EBS,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then compare GPU utilization and</a:t>
            </a:r>
          </a:p>
          <a:p>
            <a:pPr algn="l">
              <a:defRPr sz="1350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images / second.</a:t>
            </a:r>
          </a:p>
        </p:txBody>
      </p:sp>
    </p:spTree>
    <p:extLst>
      <p:ext uri="{BB962C8B-B14F-4D97-AF65-F5344CB8AC3E}">
        <p14:creationId xmlns:p14="http://schemas.microsoft.com/office/powerpoint/2010/main" val="1682658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ackground">
            <a:extLst>
              <a:ext uri="{FF2B5EF4-FFF2-40B4-BE49-F238E27FC236}">
                <a16:creationId xmlns:a16="http://schemas.microsoft.com/office/drawing/2014/main" id="{8E4A5253-8BC1-45C8-8B7E-DEBFA4ADF5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left-accent">
            <a:extLst>
              <a:ext uri="{FF2B5EF4-FFF2-40B4-BE49-F238E27FC236}">
                <a16:creationId xmlns:a16="http://schemas.microsoft.com/office/drawing/2014/main" id="{09FF2AB5-AEE0-4DAD-B669-FDA7DDADD8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066FC357-8F64-4FC7-9CAF-EB4CA96968F7}"/>
              </a:ext>
            </a:extLst>
          </p:cNvPr>
          <p:cNvSpPr>
            <a:spLocks noGrp="1"/>
          </p:cNvSpPr>
          <p:nvPr/>
        </p:nvSpPr>
        <p:spPr>
          <a:xfrm>
            <a:off x="438150" y="6419850"/>
            <a:ext cx="113157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source">
            <a:extLst>
              <a:ext uri="{FF2B5EF4-FFF2-40B4-BE49-F238E27FC236}">
                <a16:creationId xmlns:a16="http://schemas.microsoft.com/office/drawing/2014/main" id="{06619174-201F-4797-9E52-829094B2555A}"/>
              </a:ext>
            </a:extLst>
          </p:cNvPr>
          <p:cNvSpPr>
            <a:spLocks noGrp="1"/>
          </p:cNvSpPr>
          <p:nvPr/>
        </p:nvSpPr>
        <p:spPr>
          <a:xfrm>
            <a:off x="457200" y="6553200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FTW / NICFI PRETRAINING</a:t>
            </a:r>
          </a:p>
        </p:txBody>
      </p:sp>
      <p:sp>
        <p:nvSpPr>
          <p:cNvPr id="5" name="footer-page">
            <a:extLst>
              <a:ext uri="{FF2B5EF4-FFF2-40B4-BE49-F238E27FC236}">
                <a16:creationId xmlns:a16="http://schemas.microsoft.com/office/drawing/2014/main" id="{FFCE7D79-246A-4C14-93AA-79FD582F2DC2}"/>
              </a:ext>
            </a:extLst>
          </p:cNvPr>
          <p:cNvSpPr>
            <a:spLocks noGrp="1"/>
          </p:cNvSpPr>
          <p:nvPr/>
        </p:nvSpPr>
        <p:spPr>
          <a:xfrm>
            <a:off x="9906000" y="655320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SUMMARY  |  07</a:t>
            </a:r>
          </a:p>
        </p:txBody>
      </p:sp>
      <p:sp>
        <p:nvSpPr>
          <p:cNvPr id="6" name="kicker-07-marker">
            <a:extLst>
              <a:ext uri="{FF2B5EF4-FFF2-40B4-BE49-F238E27FC236}">
                <a16:creationId xmlns:a16="http://schemas.microsoft.com/office/drawing/2014/main" id="{E929D65A-8FFC-4E66-A2B3-2EA013977BF5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95250" cy="95250"/>
          </a:xfrm>
          <a:prstGeom prst="ellipse">
            <a:avLst/>
          </a:prstGeom>
          <a:solidFill>
            <a:srgbClr val="70B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icker-07-label">
            <a:extLst>
              <a:ext uri="{FF2B5EF4-FFF2-40B4-BE49-F238E27FC236}">
                <a16:creationId xmlns:a16="http://schemas.microsoft.com/office/drawing/2014/main" id="{D453B442-4BD1-48EB-963E-AF2BF4644DAF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BEFORE VS NOW</a:t>
            </a:r>
          </a:p>
        </p:txBody>
      </p:sp>
      <p:sp>
        <p:nvSpPr>
          <p:cNvPr id="8" name="claim-title">
            <a:extLst>
              <a:ext uri="{FF2B5EF4-FFF2-40B4-BE49-F238E27FC236}">
                <a16:creationId xmlns:a16="http://schemas.microsoft.com/office/drawing/2014/main" id="{8D83994D-4AB9-42EF-A285-4EDC5044493F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The upgrade changes the training system,</a:t>
            </a:r>
          </a:p>
          <a:p>
            <a:pPr algn="l">
              <a:defRPr sz="330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not the downstream backbone.</a:t>
            </a:r>
          </a:p>
        </p:txBody>
      </p:sp>
      <p:sp>
        <p:nvSpPr>
          <p:cNvPr id="9" name="support-note">
            <a:extLst>
              <a:ext uri="{FF2B5EF4-FFF2-40B4-BE49-F238E27FC236}">
                <a16:creationId xmlns:a16="http://schemas.microsoft.com/office/drawing/2014/main" id="{9DA9CCA1-738B-40EB-8481-53858EB0DC78}"/>
              </a:ext>
            </a:extLst>
          </p:cNvPr>
          <p:cNvSpPr>
            <a:spLocks noGrp="1"/>
          </p:cNvSpPr>
          <p:nvPr/>
        </p:nvSpPr>
        <p:spPr>
          <a:xfrm>
            <a:off x="514350" y="1733550"/>
            <a:ext cx="990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EfficientNet-B7 remains the representation backbone. The surrounding pipeline is now more mature for large-scale SSL.</a:t>
            </a:r>
          </a:p>
        </p:txBody>
      </p:sp>
      <p:sp>
        <p:nvSpPr>
          <p:cNvPr id="10" name="table-header">
            <a:extLst>
              <a:ext uri="{FF2B5EF4-FFF2-40B4-BE49-F238E27FC236}">
                <a16:creationId xmlns:a16="http://schemas.microsoft.com/office/drawing/2014/main" id="{A9BFA746-B2C1-4E73-8DF4-07C8E98A35DE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10877550" cy="400050"/>
          </a:xfrm>
          <a:prstGeom prst="rect">
            <a:avLst/>
          </a:prstGeom>
          <a:solidFill>
            <a:srgbClr val="20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EA9323-69CE-4FA9-BDFD-DE3EED6B272F}"/>
              </a:ext>
            </a:extLst>
          </p:cNvPr>
          <p:cNvSpPr>
            <a:spLocks noGrp="1"/>
          </p:cNvSpPr>
          <p:nvPr/>
        </p:nvSpPr>
        <p:spPr>
          <a:xfrm>
            <a:off x="723900" y="2609850"/>
            <a:ext cx="1543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rPr>
              <a:t>DIMENSION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CCB965-82E3-444B-AC9B-B560041B9A2A}"/>
              </a:ext>
            </a:extLst>
          </p:cNvPr>
          <p:cNvSpPr>
            <a:spLocks noGrp="1"/>
          </p:cNvSpPr>
          <p:nvPr/>
        </p:nvSpPr>
        <p:spPr>
          <a:xfrm>
            <a:off x="2705100" y="260985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3F0E8"/>
                </a:solidFill>
                <a:latin typeface="Aptos Mono"/>
                <a:ea typeface="Aptos Mono"/>
                <a:cs typeface="Aptos Mono"/>
              </a:rPr>
              <a:t>BEFORE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973A4E-F579-4A6B-9B74-634A92BACF94}"/>
              </a:ext>
            </a:extLst>
          </p:cNvPr>
          <p:cNvSpPr>
            <a:spLocks noGrp="1"/>
          </p:cNvSpPr>
          <p:nvPr/>
        </p:nvSpPr>
        <p:spPr>
          <a:xfrm>
            <a:off x="5029200" y="2609850"/>
            <a:ext cx="2876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98DE77-31D3-4D15-9E64-D1957EF3B2CC}"/>
              </a:ext>
            </a:extLst>
          </p:cNvPr>
          <p:cNvSpPr>
            <a:spLocks noGrp="1"/>
          </p:cNvSpPr>
          <p:nvPr/>
        </p:nvSpPr>
        <p:spPr>
          <a:xfrm>
            <a:off x="8343900" y="2609850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0B7D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0B7D6"/>
                </a:solidFill>
                <a:latin typeface="Aptos Mono"/>
                <a:ea typeface="Aptos Mono"/>
                <a:cs typeface="Aptos Mono"/>
              </a:rPr>
              <a:t>WHY IT MATTERS</a:t>
            </a:r>
          </a:p>
        </p:txBody>
      </p:sp>
      <p:sp>
        <p:nvSpPr>
          <p:cNvPr id="15" name="table-row-0">
            <a:extLst>
              <a:ext uri="{FF2B5EF4-FFF2-40B4-BE49-F238E27FC236}">
                <a16:creationId xmlns:a16="http://schemas.microsoft.com/office/drawing/2014/main" id="{958E7038-C7A3-4BAD-85F5-A405AC6F33D9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10877550" cy="495300"/>
          </a:xfrm>
          <a:prstGeom prst="rect">
            <a:avLst/>
          </a:prstGeom>
          <a:solidFill>
            <a:srgbClr val="121C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able-r0-c0">
            <a:extLst>
              <a:ext uri="{FF2B5EF4-FFF2-40B4-BE49-F238E27FC236}">
                <a16:creationId xmlns:a16="http://schemas.microsoft.com/office/drawing/2014/main" id="{241F7F6C-C0F9-4AC2-973B-F4C225AD67E2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Timestep context</a:t>
            </a:r>
          </a:p>
        </p:txBody>
      </p:sp>
      <p:sp>
        <p:nvSpPr>
          <p:cNvPr id="17" name="table-r0-c1">
            <a:extLst>
              <a:ext uri="{FF2B5EF4-FFF2-40B4-BE49-F238E27FC236}">
                <a16:creationId xmlns:a16="http://schemas.microsoft.com/office/drawing/2014/main" id="{65723B89-0850-44EC-8F4A-67B46C19CC73}"/>
              </a:ext>
            </a:extLst>
          </p:cNvPr>
          <p:cNvSpPr>
            <a:spLocks noGrp="1"/>
          </p:cNvSpPr>
          <p:nvPr/>
        </p:nvSpPr>
        <p:spPr>
          <a:xfrm>
            <a:off x="2705100" y="2990850"/>
            <a:ext cx="1885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Input-channel bias</a:t>
            </a:r>
          </a:p>
        </p:txBody>
      </p:sp>
      <p:sp>
        <p:nvSpPr>
          <p:cNvPr id="18" name="table-r0-c2">
            <a:extLst>
              <a:ext uri="{FF2B5EF4-FFF2-40B4-BE49-F238E27FC236}">
                <a16:creationId xmlns:a16="http://schemas.microsoft.com/office/drawing/2014/main" id="{203DAB9A-9FEE-444E-ACA2-888B37C1172A}"/>
              </a:ext>
            </a:extLst>
          </p:cNvPr>
          <p:cNvSpPr>
            <a:spLocks noGrp="1"/>
          </p:cNvSpPr>
          <p:nvPr/>
        </p:nvSpPr>
        <p:spPr>
          <a:xfrm>
            <a:off x="5029200" y="2990850"/>
            <a:ext cx="2876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83C6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3C69B"/>
                </a:solidFill>
                <a:latin typeface="Aptos"/>
                <a:ea typeface="Aptos"/>
                <a:cs typeface="Aptos"/>
              </a:rPr>
              <a:t>FiLM at encoder + decoder scales</a:t>
            </a:r>
          </a:p>
        </p:txBody>
      </p:sp>
      <p:sp>
        <p:nvSpPr>
          <p:cNvPr id="19" name="table-r0-c3">
            <a:extLst>
              <a:ext uri="{FF2B5EF4-FFF2-40B4-BE49-F238E27FC236}">
                <a16:creationId xmlns:a16="http://schemas.microsoft.com/office/drawing/2014/main" id="{0092EE2B-6811-41D8-A4C7-B0E49006860E}"/>
              </a:ext>
            </a:extLst>
          </p:cNvPr>
          <p:cNvSpPr>
            <a:spLocks noGrp="1"/>
          </p:cNvSpPr>
          <p:nvPr/>
        </p:nvSpPr>
        <p:spPr>
          <a:xfrm>
            <a:off x="8343900" y="299085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Richer denoising context</a:t>
            </a:r>
          </a:p>
        </p:txBody>
      </p:sp>
      <p:sp>
        <p:nvSpPr>
          <p:cNvPr id="20" name="table-row-1">
            <a:extLst>
              <a:ext uri="{FF2B5EF4-FFF2-40B4-BE49-F238E27FC236}">
                <a16:creationId xmlns:a16="http://schemas.microsoft.com/office/drawing/2014/main" id="{B5A0A40B-AE47-446A-B450-597900003DEB}"/>
              </a:ext>
            </a:extLst>
          </p:cNvPr>
          <p:cNvSpPr>
            <a:spLocks noGrp="1"/>
          </p:cNvSpPr>
          <p:nvPr/>
        </p:nvSpPr>
        <p:spPr>
          <a:xfrm>
            <a:off x="590550" y="3419475"/>
            <a:ext cx="10877550" cy="49530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able-r1-c0">
            <a:extLst>
              <a:ext uri="{FF2B5EF4-FFF2-40B4-BE49-F238E27FC236}">
                <a16:creationId xmlns:a16="http://schemas.microsoft.com/office/drawing/2014/main" id="{F1CF093C-5F37-4D9D-A8DB-B00533E41E52}"/>
              </a:ext>
            </a:extLst>
          </p:cNvPr>
          <p:cNvSpPr>
            <a:spLocks noGrp="1"/>
          </p:cNvSpPr>
          <p:nvPr/>
        </p:nvSpPr>
        <p:spPr>
          <a:xfrm>
            <a:off x="723900" y="3495675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Noise process</a:t>
            </a:r>
          </a:p>
        </p:txBody>
      </p:sp>
      <p:sp>
        <p:nvSpPr>
          <p:cNvPr id="22" name="table-r1-c1">
            <a:extLst>
              <a:ext uri="{FF2B5EF4-FFF2-40B4-BE49-F238E27FC236}">
                <a16:creationId xmlns:a16="http://schemas.microsoft.com/office/drawing/2014/main" id="{A6636F89-F940-4F46-BAF3-C9BEB23D89B3}"/>
              </a:ext>
            </a:extLst>
          </p:cNvPr>
          <p:cNvSpPr>
            <a:spLocks noGrp="1"/>
          </p:cNvSpPr>
          <p:nvPr/>
        </p:nvSpPr>
        <p:spPr>
          <a:xfrm>
            <a:off x="2705100" y="3495675"/>
            <a:ext cx="1885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10,000 linear steps</a:t>
            </a:r>
          </a:p>
        </p:txBody>
      </p:sp>
      <p:sp>
        <p:nvSpPr>
          <p:cNvPr id="23" name="table-r1-c2">
            <a:extLst>
              <a:ext uri="{FF2B5EF4-FFF2-40B4-BE49-F238E27FC236}">
                <a16:creationId xmlns:a16="http://schemas.microsoft.com/office/drawing/2014/main" id="{90FE0CE4-1740-4EA8-82A8-40AB04B23756}"/>
              </a:ext>
            </a:extLst>
          </p:cNvPr>
          <p:cNvSpPr>
            <a:spLocks noGrp="1"/>
          </p:cNvSpPr>
          <p:nvPr/>
        </p:nvSpPr>
        <p:spPr>
          <a:xfrm>
            <a:off x="5029200" y="3495675"/>
            <a:ext cx="2876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83C6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3C69B"/>
                </a:solidFill>
                <a:latin typeface="Aptos"/>
                <a:ea typeface="Aptos"/>
                <a:cs typeface="Aptos"/>
              </a:rPr>
              <a:t>1,000 cosine steps</a:t>
            </a:r>
          </a:p>
        </p:txBody>
      </p:sp>
      <p:sp>
        <p:nvSpPr>
          <p:cNvPr id="24" name="table-r1-c3">
            <a:extLst>
              <a:ext uri="{FF2B5EF4-FFF2-40B4-BE49-F238E27FC236}">
                <a16:creationId xmlns:a16="http://schemas.microsoft.com/office/drawing/2014/main" id="{C5E8949A-9B4F-4F13-B87A-079261CA4FFF}"/>
              </a:ext>
            </a:extLst>
          </p:cNvPr>
          <p:cNvSpPr>
            <a:spLocks noGrp="1"/>
          </p:cNvSpPr>
          <p:nvPr/>
        </p:nvSpPr>
        <p:spPr>
          <a:xfrm>
            <a:off x="8343900" y="3495675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Standardized corruption path</a:t>
            </a:r>
          </a:p>
        </p:txBody>
      </p:sp>
      <p:sp>
        <p:nvSpPr>
          <p:cNvPr id="25" name="table-row-2">
            <a:extLst>
              <a:ext uri="{FF2B5EF4-FFF2-40B4-BE49-F238E27FC236}">
                <a16:creationId xmlns:a16="http://schemas.microsoft.com/office/drawing/2014/main" id="{BB95D9A8-EE3D-43C3-9A3A-02C2B2224008}"/>
              </a:ext>
            </a:extLst>
          </p:cNvPr>
          <p:cNvSpPr>
            <a:spLocks noGrp="1"/>
          </p:cNvSpPr>
          <p:nvPr/>
        </p:nvSpPr>
        <p:spPr>
          <a:xfrm>
            <a:off x="590550" y="3924300"/>
            <a:ext cx="10877550" cy="495300"/>
          </a:xfrm>
          <a:prstGeom prst="rect">
            <a:avLst/>
          </a:prstGeom>
          <a:solidFill>
            <a:srgbClr val="121C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able-r2-c0">
            <a:extLst>
              <a:ext uri="{FF2B5EF4-FFF2-40B4-BE49-F238E27FC236}">
                <a16:creationId xmlns:a16="http://schemas.microsoft.com/office/drawing/2014/main" id="{C0180AD8-D72E-4B3F-A374-2324EB656FBE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27" name="table-r2-c1">
            <a:extLst>
              <a:ext uri="{FF2B5EF4-FFF2-40B4-BE49-F238E27FC236}">
                <a16:creationId xmlns:a16="http://schemas.microsoft.com/office/drawing/2014/main" id="{AC51CCBE-097E-4B30-88D1-5D8B8F3DD692}"/>
              </a:ext>
            </a:extLst>
          </p:cNvPr>
          <p:cNvSpPr>
            <a:spLocks noGrp="1"/>
          </p:cNvSpPr>
          <p:nvPr/>
        </p:nvSpPr>
        <p:spPr>
          <a:xfrm>
            <a:off x="2705100" y="4000500"/>
            <a:ext cx="1885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Uniform MSE</a:t>
            </a:r>
          </a:p>
        </p:txBody>
      </p:sp>
      <p:sp>
        <p:nvSpPr>
          <p:cNvPr id="28" name="table-r2-c2">
            <a:extLst>
              <a:ext uri="{FF2B5EF4-FFF2-40B4-BE49-F238E27FC236}">
                <a16:creationId xmlns:a16="http://schemas.microsoft.com/office/drawing/2014/main" id="{BEA32571-AFB1-4881-92A0-D7DA8EEF6ED7}"/>
              </a:ext>
            </a:extLst>
          </p:cNvPr>
          <p:cNvSpPr>
            <a:spLocks noGrp="1"/>
          </p:cNvSpPr>
          <p:nvPr/>
        </p:nvSpPr>
        <p:spPr>
          <a:xfrm>
            <a:off x="5029200" y="4000500"/>
            <a:ext cx="2876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83C6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3C69B"/>
                </a:solidFill>
                <a:latin typeface="Aptos"/>
                <a:ea typeface="Aptos"/>
                <a:cs typeface="Aptos"/>
              </a:rPr>
              <a:t>Min-SNR weighted MSE</a:t>
            </a:r>
          </a:p>
        </p:txBody>
      </p:sp>
      <p:sp>
        <p:nvSpPr>
          <p:cNvPr id="29" name="table-r2-c3">
            <a:extLst>
              <a:ext uri="{FF2B5EF4-FFF2-40B4-BE49-F238E27FC236}">
                <a16:creationId xmlns:a16="http://schemas.microsoft.com/office/drawing/2014/main" id="{0A5C4D47-AF50-4462-9200-53CF98A39389}"/>
              </a:ext>
            </a:extLst>
          </p:cNvPr>
          <p:cNvSpPr>
            <a:spLocks noGrp="1"/>
          </p:cNvSpPr>
          <p:nvPr/>
        </p:nvSpPr>
        <p:spPr>
          <a:xfrm>
            <a:off x="8343900" y="400050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Less easy-step domination</a:t>
            </a:r>
          </a:p>
        </p:txBody>
      </p:sp>
      <p:sp>
        <p:nvSpPr>
          <p:cNvPr id="30" name="table-row-3">
            <a:extLst>
              <a:ext uri="{FF2B5EF4-FFF2-40B4-BE49-F238E27FC236}">
                <a16:creationId xmlns:a16="http://schemas.microsoft.com/office/drawing/2014/main" id="{88705E1B-8115-46AC-BE4D-8AA08349DFD8}"/>
              </a:ext>
            </a:extLst>
          </p:cNvPr>
          <p:cNvSpPr>
            <a:spLocks noGrp="1"/>
          </p:cNvSpPr>
          <p:nvPr/>
        </p:nvSpPr>
        <p:spPr>
          <a:xfrm>
            <a:off x="590550" y="4429125"/>
            <a:ext cx="10877550" cy="49530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able-r3-c0">
            <a:extLst>
              <a:ext uri="{FF2B5EF4-FFF2-40B4-BE49-F238E27FC236}">
                <a16:creationId xmlns:a16="http://schemas.microsoft.com/office/drawing/2014/main" id="{84DF4FB1-1B5C-401C-8BA7-2C60564CE689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2" name="table-r3-c1">
            <a:extLst>
              <a:ext uri="{FF2B5EF4-FFF2-40B4-BE49-F238E27FC236}">
                <a16:creationId xmlns:a16="http://schemas.microsoft.com/office/drawing/2014/main" id="{5E0AFD3F-3FEF-41C5-9AB7-F002B4744565}"/>
              </a:ext>
            </a:extLst>
          </p:cNvPr>
          <p:cNvSpPr>
            <a:spLocks noGrp="1"/>
          </p:cNvSpPr>
          <p:nvPr/>
        </p:nvSpPr>
        <p:spPr>
          <a:xfrm>
            <a:off x="2705100" y="4505325"/>
            <a:ext cx="1885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Aggregate loss</a:t>
            </a:r>
          </a:p>
        </p:txBody>
      </p:sp>
      <p:sp>
        <p:nvSpPr>
          <p:cNvPr id="33" name="table-r3-c2">
            <a:extLst>
              <a:ext uri="{FF2B5EF4-FFF2-40B4-BE49-F238E27FC236}">
                <a16:creationId xmlns:a16="http://schemas.microsoft.com/office/drawing/2014/main" id="{1B1A1E2A-363E-4CAB-A08B-4533A49327C4}"/>
              </a:ext>
            </a:extLst>
          </p:cNvPr>
          <p:cNvSpPr>
            <a:spLocks noGrp="1"/>
          </p:cNvSpPr>
          <p:nvPr/>
        </p:nvSpPr>
        <p:spPr>
          <a:xfrm>
            <a:off x="5029200" y="4505325"/>
            <a:ext cx="2876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83C6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3C69B"/>
                </a:solidFill>
                <a:latin typeface="Aptos"/>
                <a:ea typeface="Aptos"/>
                <a:cs typeface="Aptos"/>
              </a:rPr>
              <a:t>EMA + 10 timestep bins</a:t>
            </a:r>
          </a:p>
        </p:txBody>
      </p:sp>
      <p:sp>
        <p:nvSpPr>
          <p:cNvPr id="34" name="table-r3-c3">
            <a:extLst>
              <a:ext uri="{FF2B5EF4-FFF2-40B4-BE49-F238E27FC236}">
                <a16:creationId xmlns:a16="http://schemas.microsoft.com/office/drawing/2014/main" id="{0EEF2B5A-8FEB-43E5-A6BB-A6212E9BF164}"/>
              </a:ext>
            </a:extLst>
          </p:cNvPr>
          <p:cNvSpPr>
            <a:spLocks noGrp="1"/>
          </p:cNvSpPr>
          <p:nvPr/>
        </p:nvSpPr>
        <p:spPr>
          <a:xfrm>
            <a:off x="8343900" y="4505325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Better diagnostics</a:t>
            </a:r>
          </a:p>
        </p:txBody>
      </p:sp>
      <p:sp>
        <p:nvSpPr>
          <p:cNvPr id="35" name="table-row-4">
            <a:extLst>
              <a:ext uri="{FF2B5EF4-FFF2-40B4-BE49-F238E27FC236}">
                <a16:creationId xmlns:a16="http://schemas.microsoft.com/office/drawing/2014/main" id="{F256B820-38B7-485C-90DB-4B57DE0A7344}"/>
              </a:ext>
            </a:extLst>
          </p:cNvPr>
          <p:cNvSpPr>
            <a:spLocks noGrp="1"/>
          </p:cNvSpPr>
          <p:nvPr/>
        </p:nvSpPr>
        <p:spPr>
          <a:xfrm>
            <a:off x="590550" y="4933950"/>
            <a:ext cx="10877550" cy="495300"/>
          </a:xfrm>
          <a:prstGeom prst="rect">
            <a:avLst/>
          </a:prstGeom>
          <a:solidFill>
            <a:srgbClr val="121C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able-r4-c0">
            <a:extLst>
              <a:ext uri="{FF2B5EF4-FFF2-40B4-BE49-F238E27FC236}">
                <a16:creationId xmlns:a16="http://schemas.microsoft.com/office/drawing/2014/main" id="{A58D6510-8EB2-4860-B7CD-17E6D2F8556B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Transfer</a:t>
            </a:r>
          </a:p>
        </p:txBody>
      </p:sp>
      <p:sp>
        <p:nvSpPr>
          <p:cNvPr id="37" name="table-r4-c1">
            <a:extLst>
              <a:ext uri="{FF2B5EF4-FFF2-40B4-BE49-F238E27FC236}">
                <a16:creationId xmlns:a16="http://schemas.microsoft.com/office/drawing/2014/main" id="{513BD5C5-AFD2-462F-9188-1AB61DB14932}"/>
              </a:ext>
            </a:extLst>
          </p:cNvPr>
          <p:cNvSpPr>
            <a:spLocks noGrp="1"/>
          </p:cNvSpPr>
          <p:nvPr/>
        </p:nvSpPr>
        <p:spPr>
          <a:xfrm>
            <a:off x="2705100" y="5010150"/>
            <a:ext cx="1885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Full checkpoint focus</a:t>
            </a:r>
          </a:p>
        </p:txBody>
      </p:sp>
      <p:sp>
        <p:nvSpPr>
          <p:cNvPr id="38" name="table-r4-c2">
            <a:extLst>
              <a:ext uri="{FF2B5EF4-FFF2-40B4-BE49-F238E27FC236}">
                <a16:creationId xmlns:a16="http://schemas.microsoft.com/office/drawing/2014/main" id="{582496FD-4E78-44E5-B94A-5BE9DBCF1954}"/>
              </a:ext>
            </a:extLst>
          </p:cNvPr>
          <p:cNvSpPr>
            <a:spLocks noGrp="1"/>
          </p:cNvSpPr>
          <p:nvPr/>
        </p:nvSpPr>
        <p:spPr>
          <a:xfrm>
            <a:off x="5029200" y="5010150"/>
            <a:ext cx="2876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83C6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3C69B"/>
                </a:solidFill>
                <a:latin typeface="Aptos"/>
                <a:ea typeface="Aptos"/>
                <a:cs typeface="Aptos"/>
              </a:rPr>
              <a:t>Strict EMA encoder export</a:t>
            </a:r>
          </a:p>
        </p:txBody>
      </p:sp>
      <p:sp>
        <p:nvSpPr>
          <p:cNvPr id="39" name="table-r4-c3">
            <a:extLst>
              <a:ext uri="{FF2B5EF4-FFF2-40B4-BE49-F238E27FC236}">
                <a16:creationId xmlns:a16="http://schemas.microsoft.com/office/drawing/2014/main" id="{A841E386-D5F4-4CAE-AA9C-8021C33D1E20}"/>
              </a:ext>
            </a:extLst>
          </p:cNvPr>
          <p:cNvSpPr>
            <a:spLocks noGrp="1"/>
          </p:cNvSpPr>
          <p:nvPr/>
        </p:nvSpPr>
        <p:spPr>
          <a:xfrm>
            <a:off x="8343900" y="501015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Encoder-only evaluation</a:t>
            </a:r>
          </a:p>
        </p:txBody>
      </p:sp>
      <p:sp>
        <p:nvSpPr>
          <p:cNvPr id="40" name="table-row-5">
            <a:extLst>
              <a:ext uri="{FF2B5EF4-FFF2-40B4-BE49-F238E27FC236}">
                <a16:creationId xmlns:a16="http://schemas.microsoft.com/office/drawing/2014/main" id="{4933115C-7C38-44B1-AA9C-74E82CFC4034}"/>
              </a:ext>
            </a:extLst>
          </p:cNvPr>
          <p:cNvSpPr>
            <a:spLocks noGrp="1"/>
          </p:cNvSpPr>
          <p:nvPr/>
        </p:nvSpPr>
        <p:spPr>
          <a:xfrm>
            <a:off x="590550" y="5438775"/>
            <a:ext cx="10877550" cy="49530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able-r5-c0">
            <a:extLst>
              <a:ext uri="{FF2B5EF4-FFF2-40B4-BE49-F238E27FC236}">
                <a16:creationId xmlns:a16="http://schemas.microsoft.com/office/drawing/2014/main" id="{B096F8BC-B914-4C12-872A-C4B286211F5C}"/>
              </a:ext>
            </a:extLst>
          </p:cNvPr>
          <p:cNvSpPr>
            <a:spLocks noGrp="1"/>
          </p:cNvSpPr>
          <p:nvPr/>
        </p:nvSpPr>
        <p:spPr>
          <a:xfrm>
            <a:off x="723900" y="5514975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0E8"/>
                </a:solidFill>
                <a:latin typeface="Aptos"/>
                <a:ea typeface="Aptos"/>
                <a:cs typeface="Aptos"/>
              </a:rPr>
              <a:t>AWS path</a:t>
            </a:r>
          </a:p>
        </p:txBody>
      </p:sp>
      <p:sp>
        <p:nvSpPr>
          <p:cNvPr id="42" name="table-r5-c1">
            <a:extLst>
              <a:ext uri="{FF2B5EF4-FFF2-40B4-BE49-F238E27FC236}">
                <a16:creationId xmlns:a16="http://schemas.microsoft.com/office/drawing/2014/main" id="{1B6AB2F0-47AE-4DE4-B040-95B75A012614}"/>
              </a:ext>
            </a:extLst>
          </p:cNvPr>
          <p:cNvSpPr>
            <a:spLocks noGrp="1"/>
          </p:cNvSpPr>
          <p:nvPr/>
        </p:nvSpPr>
        <p:spPr>
          <a:xfrm>
            <a:off x="2705100" y="5514975"/>
            <a:ext cx="1885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2 GPUs</a:t>
            </a:r>
          </a:p>
        </p:txBody>
      </p:sp>
      <p:sp>
        <p:nvSpPr>
          <p:cNvPr id="43" name="table-r5-c2">
            <a:extLst>
              <a:ext uri="{FF2B5EF4-FFF2-40B4-BE49-F238E27FC236}">
                <a16:creationId xmlns:a16="http://schemas.microsoft.com/office/drawing/2014/main" id="{156B91D7-933B-4497-8CDB-1B1E53CED3DE}"/>
              </a:ext>
            </a:extLst>
          </p:cNvPr>
          <p:cNvSpPr>
            <a:spLocks noGrp="1"/>
          </p:cNvSpPr>
          <p:nvPr/>
        </p:nvSpPr>
        <p:spPr>
          <a:xfrm>
            <a:off x="5029200" y="5514975"/>
            <a:ext cx="2876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83C6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3C69B"/>
                </a:solidFill>
                <a:latin typeface="Aptos"/>
                <a:ea typeface="Aptos"/>
                <a:cs typeface="Aptos"/>
              </a:rPr>
              <a:t>8 GPUs + AMP + loader controls</a:t>
            </a:r>
          </a:p>
        </p:txBody>
      </p:sp>
      <p:sp>
        <p:nvSpPr>
          <p:cNvPr id="44" name="table-r5-c3">
            <a:extLst>
              <a:ext uri="{FF2B5EF4-FFF2-40B4-BE49-F238E27FC236}">
                <a16:creationId xmlns:a16="http://schemas.microsoft.com/office/drawing/2014/main" id="{66F2CE5C-2419-44C5-873F-C8D9CC92CB75}"/>
              </a:ext>
            </a:extLst>
          </p:cNvPr>
          <p:cNvSpPr>
            <a:spLocks noGrp="1"/>
          </p:cNvSpPr>
          <p:nvPr/>
        </p:nvSpPr>
        <p:spPr>
          <a:xfrm>
            <a:off x="8343900" y="5514975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Benchmark-ready scaling</a:t>
            </a:r>
          </a:p>
        </p:txBody>
      </p:sp>
    </p:spTree>
    <p:extLst>
      <p:ext uri="{BB962C8B-B14F-4D97-AF65-F5344CB8AC3E}">
        <p14:creationId xmlns:p14="http://schemas.microsoft.com/office/powerpoint/2010/main" val="161464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ackground">
            <a:extLst>
              <a:ext uri="{FF2B5EF4-FFF2-40B4-BE49-F238E27FC236}">
                <a16:creationId xmlns:a16="http://schemas.microsoft.com/office/drawing/2014/main" id="{14317E08-57B9-4AF2-ABA3-9A543187F3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left-accent">
            <a:extLst>
              <a:ext uri="{FF2B5EF4-FFF2-40B4-BE49-F238E27FC236}">
                <a16:creationId xmlns:a16="http://schemas.microsoft.com/office/drawing/2014/main" id="{EB408AF4-B20F-4606-8637-45D2FD716F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B1253B78-D293-42F3-8C3E-83EE6B003A57}"/>
              </a:ext>
            </a:extLst>
          </p:cNvPr>
          <p:cNvSpPr>
            <a:spLocks noGrp="1"/>
          </p:cNvSpPr>
          <p:nvPr/>
        </p:nvSpPr>
        <p:spPr>
          <a:xfrm>
            <a:off x="438150" y="6419850"/>
            <a:ext cx="11315700" cy="9525"/>
          </a:xfrm>
          <a:prstGeom prst="rect">
            <a:avLst/>
          </a:prstGeom>
          <a:solidFill>
            <a:srgbClr val="5D6C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source">
            <a:extLst>
              <a:ext uri="{FF2B5EF4-FFF2-40B4-BE49-F238E27FC236}">
                <a16:creationId xmlns:a16="http://schemas.microsoft.com/office/drawing/2014/main" id="{3ACC3121-48B7-4F80-B575-1111213EC5A7}"/>
              </a:ext>
            </a:extLst>
          </p:cNvPr>
          <p:cNvSpPr>
            <a:spLocks noGrp="1"/>
          </p:cNvSpPr>
          <p:nvPr/>
        </p:nvSpPr>
        <p:spPr>
          <a:xfrm>
            <a:off x="457200" y="6553200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FTW / NICFI PRETRAINING</a:t>
            </a:r>
          </a:p>
        </p:txBody>
      </p:sp>
      <p:sp>
        <p:nvSpPr>
          <p:cNvPr id="5" name="footer-page">
            <a:extLst>
              <a:ext uri="{FF2B5EF4-FFF2-40B4-BE49-F238E27FC236}">
                <a16:creationId xmlns:a16="http://schemas.microsoft.com/office/drawing/2014/main" id="{DB08F746-532B-48F1-AECF-7DB2093D5067}"/>
              </a:ext>
            </a:extLst>
          </p:cNvPr>
          <p:cNvSpPr>
            <a:spLocks noGrp="1"/>
          </p:cNvSpPr>
          <p:nvPr/>
        </p:nvSpPr>
        <p:spPr>
          <a:xfrm>
            <a:off x="9906000" y="655320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2BE"/>
                </a:solidFill>
                <a:latin typeface="Aptos Mono"/>
                <a:ea typeface="Aptos Mono"/>
                <a:cs typeface="Aptos Mono"/>
              </a:rPr>
              <a:t>NEXT RUN  |  08</a:t>
            </a:r>
          </a:p>
        </p:txBody>
      </p:sp>
      <p:sp>
        <p:nvSpPr>
          <p:cNvPr id="6" name="kicker-08-marker">
            <a:extLst>
              <a:ext uri="{FF2B5EF4-FFF2-40B4-BE49-F238E27FC236}">
                <a16:creationId xmlns:a16="http://schemas.microsoft.com/office/drawing/2014/main" id="{02AB9D11-64FB-4AA0-B1FC-B1F72E9354AC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95250" cy="95250"/>
          </a:xfrm>
          <a:prstGeom prst="ellipse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icker-08-label">
            <a:extLst>
              <a:ext uri="{FF2B5EF4-FFF2-40B4-BE49-F238E27FC236}">
                <a16:creationId xmlns:a16="http://schemas.microsoft.com/office/drawing/2014/main" id="{3891FEFA-13DA-4103-ACB0-F786FFDA5ACB}"/>
              </a:ext>
            </a:extLst>
          </p:cNvPr>
          <p:cNvSpPr>
            <a:spLocks noGrp="1"/>
          </p:cNvSpPr>
          <p:nvPr/>
        </p:nvSpPr>
        <p:spPr>
          <a:xfrm>
            <a:off x="704850" y="342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E4B76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4B76A"/>
                </a:solidFill>
                <a:latin typeface="Aptos Mono"/>
                <a:ea typeface="Aptos Mono"/>
                <a:cs typeface="Aptos Mono"/>
              </a:rPr>
              <a:t>BENCHMARK GATE</a:t>
            </a:r>
          </a:p>
        </p:txBody>
      </p:sp>
      <p:sp>
        <p:nvSpPr>
          <p:cNvPr id="8" name="claim-title">
            <a:extLst>
              <a:ext uri="{FF2B5EF4-FFF2-40B4-BE49-F238E27FC236}">
                <a16:creationId xmlns:a16="http://schemas.microsoft.com/office/drawing/2014/main" id="{AB5D8332-3647-499E-B1BE-AD7FA930CA02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106680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The next decision is empirical:</a:t>
            </a:r>
          </a:p>
          <a:p>
            <a:pPr algn="l">
              <a:defRPr sz="37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benchmark before committing 300 epochs.</a:t>
            </a:r>
          </a:p>
        </p:txBody>
      </p:sp>
      <p:sp>
        <p:nvSpPr>
          <p:cNvPr id="9" name="support-note">
            <a:extLst>
              <a:ext uri="{FF2B5EF4-FFF2-40B4-BE49-F238E27FC236}">
                <a16:creationId xmlns:a16="http://schemas.microsoft.com/office/drawing/2014/main" id="{1687D7B2-C0CC-4FC3-AB59-7FAC1720E44E}"/>
              </a:ext>
            </a:extLst>
          </p:cNvPr>
          <p:cNvSpPr>
            <a:spLocks noGrp="1"/>
          </p:cNvSpPr>
          <p:nvPr/>
        </p:nvSpPr>
        <p:spPr>
          <a:xfrm>
            <a:off x="514350" y="20002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A8B2B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2BE"/>
                </a:solidFill>
                <a:latin typeface="Aptos"/>
                <a:ea typeface="Aptos"/>
                <a:cs typeface="Aptos"/>
              </a:rPr>
              <a:t>Use a short eight-GPU run to verify correctness and quantify the remaining S3 bottleneck.</a:t>
            </a:r>
          </a:p>
        </p:txBody>
      </p:sp>
      <p:sp>
        <p:nvSpPr>
          <p:cNvPr id="10" name="benchmark-command">
            <a:extLst>
              <a:ext uri="{FF2B5EF4-FFF2-40B4-BE49-F238E27FC236}">
                <a16:creationId xmlns:a16="http://schemas.microsoft.com/office/drawing/2014/main" id="{F3C3CF06-BF17-4CA9-8DBB-758D0F99D506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6819900" cy="1447800"/>
          </a:xfrm>
          <a:prstGeom prst="rect">
            <a:avLst/>
          </a:prstGeom>
          <a:solidFill>
            <a:srgbClr val="182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894CE9-F1F8-49BA-9A3D-B6E766B61FB5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83C69B"/>
                </a:solidFill>
                <a:latin typeface="Aptos Mono"/>
                <a:ea typeface="Aptos Mono"/>
                <a:cs typeface="Aptos Mono"/>
              </a:rPr>
              <a:t>SHORT AWS BENCHMARK</a:t>
            </a:r>
          </a:p>
        </p:txBody>
      </p:sp>
      <p:sp>
        <p:nvSpPr>
          <p:cNvPr id="12" name="benchmark-code">
            <a:extLst>
              <a:ext uri="{FF2B5EF4-FFF2-40B4-BE49-F238E27FC236}">
                <a16:creationId xmlns:a16="http://schemas.microsoft.com/office/drawing/2014/main" id="{01F79796-5C82-4CA5-8DB2-BE0463C842DE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6191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3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3F0E8"/>
                </a:solidFill>
                <a:latin typeface="Aptos Mono"/>
                <a:ea typeface="Aptos Mono"/>
                <a:cs typeface="Aptos Mono"/>
              </a:rPr>
              <a:t>python run_lightning_fit.py fit \</a:t>
            </a:r>
          </a:p>
          <a:p>
            <a:pPr algn="l">
              <a:defRPr sz="1200" b="0">
                <a:solidFill>
                  <a:srgbClr val="F3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3F0E8"/>
                </a:solidFill>
                <a:latin typeface="Aptos Mono"/>
                <a:ea typeface="Aptos Mono"/>
                <a:cs typeface="Aptos Mono"/>
              </a:rPr>
              <a:t>  -c configs/custom/diff-ftw-224-ssl-300ep-es5.yaml \</a:t>
            </a:r>
          </a:p>
          <a:p>
            <a:pPr algn="l">
              <a:defRPr sz="1200" b="0">
                <a:solidFill>
                  <a:srgbClr val="F3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3F0E8"/>
                </a:solidFill>
                <a:latin typeface="Aptos Mono"/>
                <a:ea typeface="Aptos Mono"/>
                <a:cs typeface="Aptos Mono"/>
              </a:rPr>
              <a:t>  --trainer.limit_train_batches=1000 \</a:t>
            </a:r>
          </a:p>
          <a:p>
            <a:pPr algn="l">
              <a:defRPr sz="1200" b="0">
                <a:solidFill>
                  <a:srgbClr val="F3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3F0E8"/>
                </a:solidFill>
                <a:latin typeface="Aptos Mono"/>
                <a:ea typeface="Aptos Mono"/>
                <a:cs typeface="Aptos Mono"/>
              </a:rPr>
              <a:t>  --trainer.limit_val_batches=20 --trainer.max_epochs=1</a:t>
            </a:r>
          </a:p>
        </p:txBody>
      </p:sp>
      <p:sp>
        <p:nvSpPr>
          <p:cNvPr id="13" name="signals-panel">
            <a:extLst>
              <a:ext uri="{FF2B5EF4-FFF2-40B4-BE49-F238E27FC236}">
                <a16:creationId xmlns:a16="http://schemas.microsoft.com/office/drawing/2014/main" id="{D6E85787-7065-4524-979E-9910ED13363E}"/>
              </a:ext>
            </a:extLst>
          </p:cNvPr>
          <p:cNvSpPr>
            <a:spLocks noGrp="1"/>
          </p:cNvSpPr>
          <p:nvPr/>
        </p:nvSpPr>
        <p:spPr>
          <a:xfrm>
            <a:off x="7734300" y="2724150"/>
            <a:ext cx="3714750" cy="2590800"/>
          </a:xfrm>
          <a:prstGeom prst="rect">
            <a:avLst/>
          </a:prstGeom>
          <a:solidFill>
            <a:srgbClr val="121C29"/>
          </a:solidFill>
          <a:ln w="9525">
            <a:solidFill>
              <a:srgbClr val="E4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4E1C94-BC82-4C59-A514-F23D5DCA6460}"/>
              </a:ext>
            </a:extLst>
          </p:cNvPr>
          <p:cNvSpPr>
            <a:spLocks noGrp="1"/>
          </p:cNvSpPr>
          <p:nvPr/>
        </p:nvSpPr>
        <p:spPr>
          <a:xfrm>
            <a:off x="7981950" y="297180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76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4B76A"/>
                </a:solidFill>
                <a:latin typeface="Aptos Mono"/>
                <a:ea typeface="Aptos Mono"/>
                <a:cs typeface="Aptos Mono"/>
              </a:rPr>
              <a:t>SUCCESS SIGNALS</a:t>
            </a:r>
          </a:p>
        </p:txBody>
      </p:sp>
      <p:sp>
        <p:nvSpPr>
          <p:cNvPr id="15" name="signal-1">
            <a:extLst>
              <a:ext uri="{FF2B5EF4-FFF2-40B4-BE49-F238E27FC236}">
                <a16:creationId xmlns:a16="http://schemas.microsoft.com/office/drawing/2014/main" id="{587FD2AB-6903-4B28-AB0F-BF7CB8EF2CB1}"/>
              </a:ext>
            </a:extLst>
          </p:cNvPr>
          <p:cNvSpPr>
            <a:spLocks noGrp="1"/>
          </p:cNvSpPr>
          <p:nvPr/>
        </p:nvSpPr>
        <p:spPr>
          <a:xfrm>
            <a:off x="7981950" y="3409950"/>
            <a:ext cx="76200" cy="76200"/>
          </a:xfrm>
          <a:prstGeom prst="ellipse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ignal-1-text">
            <a:extLst>
              <a:ext uri="{FF2B5EF4-FFF2-40B4-BE49-F238E27FC236}">
                <a16:creationId xmlns:a16="http://schemas.microsoft.com/office/drawing/2014/main" id="{42300AC8-A4C5-40AB-8BBB-2DB9CF847650}"/>
              </a:ext>
            </a:extLst>
          </p:cNvPr>
          <p:cNvSpPr>
            <a:spLocks noGrp="1"/>
          </p:cNvSpPr>
          <p:nvPr/>
        </p:nvSpPr>
        <p:spPr>
          <a:xfrm>
            <a:off x="8153400" y="335280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All eight ranks initialize.</a:t>
            </a:r>
          </a:p>
        </p:txBody>
      </p:sp>
      <p:sp>
        <p:nvSpPr>
          <p:cNvPr id="17" name="signal-2">
            <a:extLst>
              <a:ext uri="{FF2B5EF4-FFF2-40B4-BE49-F238E27FC236}">
                <a16:creationId xmlns:a16="http://schemas.microsoft.com/office/drawing/2014/main" id="{260DFAEA-76E7-4101-ABCB-04325C7F9A34}"/>
              </a:ext>
            </a:extLst>
          </p:cNvPr>
          <p:cNvSpPr>
            <a:spLocks noGrp="1"/>
          </p:cNvSpPr>
          <p:nvPr/>
        </p:nvSpPr>
        <p:spPr>
          <a:xfrm>
            <a:off x="7981950" y="3790950"/>
            <a:ext cx="76200" cy="76200"/>
          </a:xfrm>
          <a:prstGeom prst="ellipse">
            <a:avLst/>
          </a:prstGeom>
          <a:solidFill>
            <a:srgbClr val="70B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ignal-2-text">
            <a:extLst>
              <a:ext uri="{FF2B5EF4-FFF2-40B4-BE49-F238E27FC236}">
                <a16:creationId xmlns:a16="http://schemas.microsoft.com/office/drawing/2014/main" id="{97FCC7CA-D0B3-45B1-86DC-BE5887019FA7}"/>
              </a:ext>
            </a:extLst>
          </p:cNvPr>
          <p:cNvSpPr>
            <a:spLocks noGrp="1"/>
          </p:cNvSpPr>
          <p:nvPr/>
        </p:nvSpPr>
        <p:spPr>
          <a:xfrm>
            <a:off x="8153400" y="3733800"/>
            <a:ext cx="3162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Centered range reports about [-1, 1].</a:t>
            </a:r>
          </a:p>
        </p:txBody>
      </p:sp>
      <p:sp>
        <p:nvSpPr>
          <p:cNvPr id="19" name="signal-3">
            <a:extLst>
              <a:ext uri="{FF2B5EF4-FFF2-40B4-BE49-F238E27FC236}">
                <a16:creationId xmlns:a16="http://schemas.microsoft.com/office/drawing/2014/main" id="{FE3C8D68-4962-4137-8F62-F7D838335A45}"/>
              </a:ext>
            </a:extLst>
          </p:cNvPr>
          <p:cNvSpPr>
            <a:spLocks noGrp="1"/>
          </p:cNvSpPr>
          <p:nvPr/>
        </p:nvSpPr>
        <p:spPr>
          <a:xfrm>
            <a:off x="7981950" y="4229100"/>
            <a:ext cx="76200" cy="76200"/>
          </a:xfrm>
          <a:prstGeom prst="ellipse">
            <a:avLst/>
          </a:prstGeom>
          <a:solidFill>
            <a:srgbClr val="83C6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ignal-3-text">
            <a:extLst>
              <a:ext uri="{FF2B5EF4-FFF2-40B4-BE49-F238E27FC236}">
                <a16:creationId xmlns:a16="http://schemas.microsoft.com/office/drawing/2014/main" id="{BB61DB66-7731-4D49-BEB0-DD655B9FACE7}"/>
              </a:ext>
            </a:extLst>
          </p:cNvPr>
          <p:cNvSpPr>
            <a:spLocks noGrp="1"/>
          </p:cNvSpPr>
          <p:nvPr/>
        </p:nvSpPr>
        <p:spPr>
          <a:xfrm>
            <a:off x="8153400" y="417195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Progress advances beyond batch 0.</a:t>
            </a:r>
          </a:p>
        </p:txBody>
      </p:sp>
      <p:sp>
        <p:nvSpPr>
          <p:cNvPr id="21" name="signal-4">
            <a:extLst>
              <a:ext uri="{FF2B5EF4-FFF2-40B4-BE49-F238E27FC236}">
                <a16:creationId xmlns:a16="http://schemas.microsoft.com/office/drawing/2014/main" id="{E66A4D95-0A43-40F4-885C-CC30B0A4ECD5}"/>
              </a:ext>
            </a:extLst>
          </p:cNvPr>
          <p:cNvSpPr>
            <a:spLocks noGrp="1"/>
          </p:cNvSpPr>
          <p:nvPr/>
        </p:nvSpPr>
        <p:spPr>
          <a:xfrm>
            <a:off x="7981950" y="4610100"/>
            <a:ext cx="76200" cy="76200"/>
          </a:xfrm>
          <a:prstGeom prst="ellipse">
            <a:avLst/>
          </a:prstGeom>
          <a:solidFill>
            <a:srgbClr val="E4B7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ignal-4-text">
            <a:extLst>
              <a:ext uri="{FF2B5EF4-FFF2-40B4-BE49-F238E27FC236}">
                <a16:creationId xmlns:a16="http://schemas.microsoft.com/office/drawing/2014/main" id="{5125FE9D-C8B3-45B9-8D1E-F08C74F9B8C0}"/>
              </a:ext>
            </a:extLst>
          </p:cNvPr>
          <p:cNvSpPr>
            <a:spLocks noGrp="1"/>
          </p:cNvSpPr>
          <p:nvPr/>
        </p:nvSpPr>
        <p:spPr>
          <a:xfrm>
            <a:off x="8153400" y="455295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3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8"/>
                </a:solidFill>
                <a:latin typeface="Aptos"/>
                <a:ea typeface="Aptos"/>
                <a:cs typeface="Aptos"/>
              </a:rPr>
              <a:t>Record images / second and GPU utilization.</a:t>
            </a:r>
          </a:p>
        </p:txBody>
      </p:sp>
      <p:sp>
        <p:nvSpPr>
          <p:cNvPr id="23" name="closing-note">
            <a:extLst>
              <a:ext uri="{FF2B5EF4-FFF2-40B4-BE49-F238E27FC236}">
                <a16:creationId xmlns:a16="http://schemas.microsoft.com/office/drawing/2014/main" id="{FB612032-2553-4D78-953C-8C93641ABF18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6819900" cy="1047750"/>
          </a:xfrm>
          <a:prstGeom prst="rect">
            <a:avLst/>
          </a:prstGeom>
          <a:solidFill>
            <a:srgbClr val="20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-message">
            <a:extLst>
              <a:ext uri="{FF2B5EF4-FFF2-40B4-BE49-F238E27FC236}">
                <a16:creationId xmlns:a16="http://schemas.microsoft.com/office/drawing/2014/main" id="{E7651D31-F660-4B59-9B44-EF3C74F4123A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6191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Advanced model mechanics are in place.</a:t>
            </a:r>
          </a:p>
          <a:p>
            <a:pPr algn="l">
              <a:defRPr sz="150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3F0E8"/>
                </a:solidFill>
                <a:latin typeface="Aptos Display"/>
                <a:ea typeface="Aptos Display"/>
                <a:cs typeface="Aptos Display"/>
              </a:rPr>
              <a:t>The short benchmark decides whether storage staging is the next change.</a:t>
            </a:r>
          </a:p>
        </p:txBody>
      </p:sp>
    </p:spTree>
    <p:extLst>
      <p:ext uri="{BB962C8B-B14F-4D97-AF65-F5344CB8AC3E}">
        <p14:creationId xmlns:p14="http://schemas.microsoft.com/office/powerpoint/2010/main" val="7904310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Microsoft Macintosh PowerPoint</Application>
  <DocSecurity>0</DocSecurity>
  <PresentationFormat>Widescreen</PresentationFormat>
  <Paragraphs>235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Abedi, Rahebeh</cp:lastModifiedBy>
  <cp:revision>1</cp:revision>
  <dcterms:created xsi:type="dcterms:W3CDTF">2026-06-02T02:00:23Z</dcterms:created>
  <dcterms:modified xsi:type="dcterms:W3CDTF">2026-06-02T02:09:12Z</dcterms:modified>
</cp:coreProperties>
</file>